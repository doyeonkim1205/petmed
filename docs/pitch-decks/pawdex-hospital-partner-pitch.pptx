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 type="wide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/Relationships>
</file>

<file path=ppt/slideLayouts/_rels/slideLayout1.xml.rels><?xml version="1.0" encoding="UTF-8" standalone="yes"?><Relationships xmlns="http://schemas.openxmlformats.org/package/2006/relationships"/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txBody>
          <a:bodyPr wrap="square" lIns="91440" tIns="68580" rIns="91440" bIns="68580"/>
          <a:lstStyle/>
          <a:p>
            <a:pPr marL="0" indent="0"/>
            <a:r>
              <a:rPr lang="ko-KR" sz="1800">
                <a:solidFill>
                  <a:srgbClr val="172033"/>
                </a:solidFill>
                <a:latin typeface="맑은 고딕"/>
                <a:ea typeface="맑은 고딕"/>
              </a:rPr>
              <a:t/>
            </a:r>
          </a:p>
        </p:txBody>
      </p:sp>
      <p:sp>
        <p:nvSpPr>
          <p:cNvPr id="3" name="shape 3"/>
          <p:cNvSpPr txBox="1"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8798D"/>
          </a:solidFill>
          <a:ln>
            <a:noFill/>
          </a:ln>
        </p:spPr>
        <p:txBody>
          <a:bodyPr wrap="square" lIns="91440" tIns="68580" rIns="91440" bIns="68580"/>
          <a:lstStyle/>
          <a:p>
            <a:pPr marL="0" indent="0"/>
            <a:r>
              <a:rPr lang="ko-KR" sz="1800">
                <a:solidFill>
                  <a:srgbClr val="172033"/>
                </a:solidFill>
                <a:latin typeface="맑은 고딕"/>
                <a:ea typeface="맑은 고딕"/>
              </a:rPr>
              <a:t/>
            </a:r>
          </a:p>
        </p:txBody>
      </p:sp>
      <p:sp>
        <p:nvSpPr>
          <p:cNvPr id="4" name="shape 4"/>
          <p:cNvSpPr txBox="1"/>
          <p:nvPr/>
        </p:nvSpPr>
        <p:spPr>
          <a:xfrm>
            <a:off x="685800" y="320040"/>
            <a:ext cx="4754880" cy="320040"/>
          </a:xfrm>
          <a:prstGeom prst="rect">
            <a:avLst/>
          </a:prstGeom>
          <a:noFill/>
          <a:ln>
            <a:noFill/>
          </a:ln>
        </p:spPr>
        <p:txBody>
          <a:bodyPr wrap="square" lIns="91440" tIns="68580" rIns="91440" bIns="68580"/>
          <a:lstStyle/>
          <a:p>
            <a:pPr marL="0" indent="0"/>
            <a:r>
              <a:rPr lang="ko-KR" sz="1250" b="1">
                <a:solidFill>
                  <a:srgbClr val="FFFFFF"/>
                </a:solidFill>
                <a:latin typeface="맑은 고딕"/>
                <a:ea typeface="맑은 고딕"/>
              </a:rPr>
              <a:t>PawDex 병원 관계자 제안</a:t>
            </a:r>
          </a:p>
        </p:txBody>
      </p:sp>
      <p:sp>
        <p:nvSpPr>
          <p:cNvPr id="5" name="shape 5"/>
          <p:cNvSpPr txBox="1"/>
          <p:nvPr/>
        </p:nvSpPr>
        <p:spPr>
          <a:xfrm>
            <a:off x="685800" y="1508760"/>
            <a:ext cx="10058400" cy="1234440"/>
          </a:xfrm>
          <a:prstGeom prst="rect">
            <a:avLst/>
          </a:prstGeom>
          <a:noFill/>
          <a:ln>
            <a:noFill/>
          </a:ln>
        </p:spPr>
        <p:txBody>
          <a:bodyPr wrap="square" lIns="91440" tIns="68580" rIns="91440" bIns="68580"/>
          <a:lstStyle/>
          <a:p>
            <a:pPr marL="0" indent="0"/>
            <a:r>
              <a:rPr lang="ko-KR" sz="3600" b="1">
                <a:solidFill>
                  <a:srgbClr val="172033"/>
                </a:solidFill>
                <a:latin typeface="맑은 고딕"/>
                <a:ea typeface="맑은 고딕"/>
              </a:rPr>
              <a:t>보호자 앱으로 검사결과·예약·기록 공유를 연결합니다</a:t>
            </a:r>
          </a:p>
        </p:txBody>
      </p:sp>
      <p:sp>
        <p:nvSpPr>
          <p:cNvPr id="6" name="shape 6"/>
          <p:cNvSpPr txBox="1"/>
          <p:nvPr/>
        </p:nvSpPr>
        <p:spPr>
          <a:xfrm>
            <a:off x="713232" y="2971800"/>
            <a:ext cx="8961120" cy="685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68580" rIns="91440" bIns="68580"/>
          <a:lstStyle/>
          <a:p>
            <a:pPr marL="0" indent="0"/>
            <a:r>
              <a:rPr lang="ko-KR" sz="1750">
                <a:solidFill>
                  <a:srgbClr val="516078"/>
                </a:solidFill>
                <a:latin typeface="맑은 고딕"/>
                <a:ea typeface="맑은 고딕"/>
              </a:rPr>
              <a:t>병원은 문서 발송과 예약 관리를 줄이고, 보호자는 받은 서류를 잃어버리지 않고 응급 상황에도 바로 보여줄 수 있습니다.</a:t>
            </a:r>
          </a:p>
        </p:txBody>
      </p:sp>
      <p:sp>
        <p:nvSpPr>
          <p:cNvPr id="7" name="shape 7"/>
          <p:cNvSpPr txBox="1"/>
          <p:nvPr/>
        </p:nvSpPr>
        <p:spPr>
          <a:xfrm>
            <a:off x="713232" y="4892040"/>
            <a:ext cx="2743200" cy="566928"/>
          </a:xfrm>
          <a:prstGeom prst="roundRect">
            <a:avLst/>
          </a:prstGeom>
          <a:solidFill>
            <a:srgbClr val="08798D"/>
          </a:solidFill>
          <a:ln>
            <a:noFill/>
          </a:ln>
        </p:spPr>
        <p:txBody>
          <a:bodyPr wrap="square" lIns="91440" tIns="68580" rIns="91440" bIns="68580"/>
          <a:lstStyle/>
          <a:p>
            <a:pPr marL="0" indent="0"/>
            <a:r>
              <a:rPr lang="ko-KR" sz="1450" b="1">
                <a:solidFill>
                  <a:srgbClr val="FFFFFF"/>
                </a:solidFill>
                <a:latin typeface="맑은 고딕"/>
                <a:ea typeface="맑은 고딕"/>
              </a:rPr>
              <a:t>병원 미팅용</a:t>
            </a:r>
          </a:p>
        </p:txBody>
      </p:sp>
      <p:sp>
        <p:nvSpPr>
          <p:cNvPr id="8" name="shape 8"/>
          <p:cNvSpPr txBox="1"/>
          <p:nvPr/>
        </p:nvSpPr>
        <p:spPr>
          <a:xfrm>
            <a:off x="9692640" y="4709160"/>
            <a:ext cx="1645920" cy="16459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E4EE"/>
            </a:solidFill>
          </a:ln>
        </p:spPr>
        <p:txBody>
          <a:bodyPr wrap="square" lIns="91440" tIns="68580" rIns="91440" bIns="68580"/>
          <a:lstStyle/>
          <a:p>
            <a:pPr marL="0" indent="0"/>
            <a:r>
              <a:rPr lang="ko-KR" sz="1700" b="1">
                <a:solidFill>
                  <a:srgbClr val="08798D"/>
                </a:solidFill>
                <a:latin typeface="맑은 고딕"/>
                <a:ea typeface="맑은 고딕"/>
              </a:rPr>
              <a:t>PawDex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68580" rIns="91440" bIns="68580"/>
          <a:lstStyle/>
          <a:p>
            <a:pPr marL="0" indent="0"/>
            <a:r>
              <a:rPr lang="ko-KR" sz="1800">
                <a:solidFill>
                  <a:srgbClr val="172033"/>
                </a:solidFill>
                <a:latin typeface="맑은 고딕"/>
                <a:ea typeface="맑은 고딕"/>
              </a:rPr>
              <a:t/>
            </a:r>
          </a:p>
        </p:txBody>
      </p:sp>
      <p:sp>
        <p:nvSpPr>
          <p:cNvPr id="3" name="shape 3"/>
          <p:cNvSpPr txBox="1"/>
          <p:nvPr/>
        </p:nvSpPr>
        <p:spPr>
          <a:xfrm>
            <a:off x="502920" y="347472"/>
            <a:ext cx="6766560" cy="457200"/>
          </a:xfrm>
          <a:prstGeom prst="rect">
            <a:avLst/>
          </a:prstGeom>
          <a:noFill/>
          <a:ln>
            <a:noFill/>
          </a:ln>
        </p:spPr>
        <p:txBody>
          <a:bodyPr wrap="square" lIns="91440" tIns="68580" rIns="91440" bIns="68580"/>
          <a:lstStyle/>
          <a:p>
            <a:pPr marL="0" indent="0"/>
            <a:r>
              <a:rPr lang="ko-KR" sz="1200" b="1">
                <a:solidFill>
                  <a:srgbClr val="2368D9"/>
                </a:solidFill>
                <a:latin typeface="맑은 고딕"/>
                <a:ea typeface="맑은 고딕"/>
              </a:rPr>
              <a:t>현재 불편</a:t>
            </a:r>
          </a:p>
        </p:txBody>
      </p:sp>
      <p:sp>
        <p:nvSpPr>
          <p:cNvPr id="4" name="shape 4"/>
          <p:cNvSpPr txBox="1"/>
          <p:nvPr/>
        </p:nvSpPr>
        <p:spPr>
          <a:xfrm>
            <a:off x="502920" y="804672"/>
            <a:ext cx="9966960" cy="731520"/>
          </a:xfrm>
          <a:prstGeom prst="rect">
            <a:avLst/>
          </a:prstGeom>
          <a:noFill/>
          <a:ln>
            <a:noFill/>
          </a:ln>
        </p:spPr>
        <p:txBody>
          <a:bodyPr wrap="square" lIns="91440" tIns="68580" rIns="91440" bIns="68580"/>
          <a:lstStyle/>
          <a:p>
            <a:pPr marL="0" indent="0"/>
            <a:r>
              <a:rPr lang="ko-KR" sz="2500" b="1">
                <a:solidFill>
                  <a:srgbClr val="172033"/>
                </a:solidFill>
                <a:latin typeface="맑은 고딕"/>
                <a:ea typeface="맑은 고딕"/>
              </a:rPr>
              <a:t>검사결과를 메일로 보내면 보호자도 병원도 다시 찾기 어렵습니다</a:t>
            </a:r>
          </a:p>
        </p:txBody>
      </p:sp>
      <p:sp>
        <p:nvSpPr>
          <p:cNvPr id="5" name="shape 5"/>
          <p:cNvSpPr txBox="1"/>
          <p:nvPr/>
        </p:nvSpPr>
        <p:spPr>
          <a:xfrm>
            <a:off x="502920" y="1691640"/>
            <a:ext cx="11155680" cy="502920"/>
          </a:xfrm>
          <a:prstGeom prst="rect">
            <a:avLst/>
          </a:prstGeom>
          <a:noFill/>
          <a:ln>
            <a:noFill/>
          </a:ln>
        </p:spPr>
        <p:txBody>
          <a:bodyPr wrap="square" lIns="91440" tIns="68580" rIns="91440" bIns="68580"/>
          <a:lstStyle/>
          <a:p>
            <a:pPr marL="0" indent="0"/>
            <a:r>
              <a:rPr lang="ko-KR" sz="1350">
                <a:solidFill>
                  <a:srgbClr val="657286"/>
                </a:solidFill>
                <a:latin typeface="맑은 고딕"/>
                <a:ea typeface="맑은 고딕"/>
              </a:rPr>
              <a:t>메일, 카톡, 종이 서류는 반려동물별 기록으로 남지 않아 재문의와 재발송이 반복됩니다.</a:t>
            </a:r>
          </a:p>
        </p:txBody>
      </p:sp>
      <p:sp>
        <p:nvSpPr>
          <p:cNvPr id="20" name="shape 20"/>
          <p:cNvSpPr txBox="1"/>
          <p:nvPr/>
        </p:nvSpPr>
        <p:spPr>
          <a:xfrm>
            <a:off x="502920" y="2423160"/>
            <a:ext cx="3520440" cy="2148840"/>
          </a:xfrm>
          <a:prstGeom prst="roundRect">
            <a:avLst/>
          </a:prstGeom>
          <a:solidFill>
            <a:srgbClr val="F6F8FB"/>
          </a:solidFill>
          <a:ln w="9525">
            <a:solidFill>
              <a:srgbClr val="DDE4EE"/>
            </a:solidFill>
          </a:ln>
        </p:spPr>
        <p:txBody>
          <a:bodyPr wrap="square" lIns="91440" tIns="68580" rIns="91440" bIns="68580"/>
          <a:lstStyle/>
          <a:p>
            <a:pPr marL="0" indent="0"/>
            <a:r>
              <a:rPr lang="ko-KR" sz="1550" b="1">
                <a:solidFill>
                  <a:srgbClr val="172033"/>
                </a:solidFill>
                <a:latin typeface="맑은 고딕"/>
                <a:ea typeface="맑은 고딕"/>
              </a:rPr>
              <a:t>보호자 문제</a:t>
            </a:r>
          </a:p>
        </p:txBody>
      </p:sp>
      <p:sp>
        <p:nvSpPr>
          <p:cNvPr id="21" name="shape 21"/>
          <p:cNvSpPr txBox="1"/>
          <p:nvPr/>
        </p:nvSpPr>
        <p:spPr>
          <a:xfrm>
            <a:off x="548640" y="2926080"/>
            <a:ext cx="3429000" cy="1581912"/>
          </a:xfrm>
          <a:prstGeom prst="rect">
            <a:avLst/>
          </a:prstGeom>
          <a:noFill/>
          <a:ln>
            <a:noFill/>
          </a:ln>
        </p:spPr>
        <p:txBody>
          <a:bodyPr wrap="square" lIns="91440" tIns="68580" rIns="91440" bIns="68580"/>
          <a:lstStyle/>
          <a:p>
            <a:pPr marL="285750" indent="-171450">
              <a:buChar char="•"/>
            </a:pPr>
            <a:r>
              <a:rPr lang="ko-KR" sz="1200">
                <a:solidFill>
                  <a:srgbClr val="39465E"/>
                </a:solidFill>
                <a:latin typeface="맑은 고딕"/>
                <a:ea typeface="맑은 고딕"/>
              </a:rPr>
              <a:t>메일함에서 파일 재검색</a:t>
            </a:r>
          </a:p>
          <a:p>
            <a:pPr marL="285750" indent="-171450">
              <a:buChar char="•"/>
            </a:pPr>
            <a:r>
              <a:rPr lang="ko-KR" sz="1200">
                <a:solidFill>
                  <a:srgbClr val="39465E"/>
                </a:solidFill>
                <a:latin typeface="맑은 고딕"/>
                <a:ea typeface="맑은 고딕"/>
              </a:rPr>
              <a:t>다른 병원 방문 시 설명 반복</a:t>
            </a:r>
          </a:p>
          <a:p>
            <a:pPr marL="285750" indent="-171450">
              <a:buChar char="•"/>
            </a:pPr>
            <a:r>
              <a:rPr lang="ko-KR" sz="1200">
                <a:solidFill>
                  <a:srgbClr val="39465E"/>
                </a:solidFill>
                <a:latin typeface="맑은 고딕"/>
                <a:ea typeface="맑은 고딕"/>
              </a:rPr>
              <a:t>검사결과와 진료기록이 분리됨</a:t>
            </a:r>
          </a:p>
        </p:txBody>
      </p:sp>
      <p:sp>
        <p:nvSpPr>
          <p:cNvPr id="22" name="shape 22"/>
          <p:cNvSpPr txBox="1"/>
          <p:nvPr/>
        </p:nvSpPr>
        <p:spPr>
          <a:xfrm>
            <a:off x="4315968" y="2423160"/>
            <a:ext cx="3520440" cy="2148840"/>
          </a:xfrm>
          <a:prstGeom prst="roundRect">
            <a:avLst/>
          </a:prstGeom>
          <a:solidFill>
            <a:srgbClr val="F6F8FB"/>
          </a:solidFill>
          <a:ln w="9525">
            <a:solidFill>
              <a:srgbClr val="DDE4EE"/>
            </a:solidFill>
          </a:ln>
        </p:spPr>
        <p:txBody>
          <a:bodyPr wrap="square" lIns="91440" tIns="68580" rIns="91440" bIns="68580"/>
          <a:lstStyle/>
          <a:p>
            <a:pPr marL="0" indent="0"/>
            <a:r>
              <a:rPr lang="ko-KR" sz="1550" b="1">
                <a:solidFill>
                  <a:srgbClr val="172033"/>
                </a:solidFill>
                <a:latin typeface="맑은 고딕"/>
                <a:ea typeface="맑은 고딕"/>
              </a:rPr>
              <a:t>병원 문제</a:t>
            </a:r>
          </a:p>
        </p:txBody>
      </p:sp>
      <p:sp>
        <p:nvSpPr>
          <p:cNvPr id="23" name="shape 23"/>
          <p:cNvSpPr txBox="1"/>
          <p:nvPr/>
        </p:nvSpPr>
        <p:spPr>
          <a:xfrm>
            <a:off x="4361688" y="2926080"/>
            <a:ext cx="3429000" cy="1581912"/>
          </a:xfrm>
          <a:prstGeom prst="rect">
            <a:avLst/>
          </a:prstGeom>
          <a:noFill/>
          <a:ln>
            <a:noFill/>
          </a:ln>
        </p:spPr>
        <p:txBody>
          <a:bodyPr wrap="square" lIns="91440" tIns="68580" rIns="91440" bIns="68580"/>
          <a:lstStyle/>
          <a:p>
            <a:pPr marL="285750" indent="-171450">
              <a:buChar char="•"/>
            </a:pPr>
            <a:r>
              <a:rPr lang="ko-KR" sz="1200">
                <a:solidFill>
                  <a:srgbClr val="39465E"/>
                </a:solidFill>
                <a:latin typeface="맑은 고딕"/>
                <a:ea typeface="맑은 고딕"/>
              </a:rPr>
              <a:t>재발송 문의 증가</a:t>
            </a:r>
          </a:p>
          <a:p>
            <a:pPr marL="285750" indent="-171450">
              <a:buChar char="•"/>
            </a:pPr>
            <a:r>
              <a:rPr lang="ko-KR" sz="1200">
                <a:solidFill>
                  <a:srgbClr val="39465E"/>
                </a:solidFill>
                <a:latin typeface="맑은 고딕"/>
                <a:ea typeface="맑은 고딕"/>
              </a:rPr>
              <a:t>예약 목적 파악 어려움</a:t>
            </a:r>
          </a:p>
          <a:p>
            <a:pPr marL="285750" indent="-171450">
              <a:buChar char="•"/>
            </a:pPr>
            <a:r>
              <a:rPr lang="ko-KR" sz="1200">
                <a:solidFill>
                  <a:srgbClr val="39465E"/>
                </a:solidFill>
                <a:latin typeface="맑은 고딕"/>
                <a:ea typeface="맑은 고딕"/>
              </a:rPr>
              <a:t>초진/재진 문진 시간이 길어짐</a:t>
            </a:r>
          </a:p>
        </p:txBody>
      </p:sp>
      <p:sp>
        <p:nvSpPr>
          <p:cNvPr id="24" name="shape 24"/>
          <p:cNvSpPr txBox="1"/>
          <p:nvPr/>
        </p:nvSpPr>
        <p:spPr>
          <a:xfrm>
            <a:off x="8129016" y="2423160"/>
            <a:ext cx="3520440" cy="2148840"/>
          </a:xfrm>
          <a:prstGeom prst="roundRect">
            <a:avLst/>
          </a:prstGeom>
          <a:solidFill>
            <a:srgbClr val="F6F8FB"/>
          </a:solidFill>
          <a:ln w="9525">
            <a:solidFill>
              <a:srgbClr val="DDE4EE"/>
            </a:solidFill>
          </a:ln>
        </p:spPr>
        <p:txBody>
          <a:bodyPr wrap="square" lIns="91440" tIns="68580" rIns="91440" bIns="68580"/>
          <a:lstStyle/>
          <a:p>
            <a:pPr marL="0" indent="0"/>
            <a:r>
              <a:rPr lang="ko-KR" sz="1550" b="1">
                <a:solidFill>
                  <a:srgbClr val="172033"/>
                </a:solidFill>
                <a:latin typeface="맑은 고딕"/>
                <a:ea typeface="맑은 고딕"/>
              </a:rPr>
              <a:t>PawDex 해결</a:t>
            </a:r>
          </a:p>
        </p:txBody>
      </p:sp>
      <p:sp>
        <p:nvSpPr>
          <p:cNvPr id="25" name="shape 25"/>
          <p:cNvSpPr txBox="1"/>
          <p:nvPr/>
        </p:nvSpPr>
        <p:spPr>
          <a:xfrm>
            <a:off x="8174736" y="2926080"/>
            <a:ext cx="3429000" cy="1581912"/>
          </a:xfrm>
          <a:prstGeom prst="rect">
            <a:avLst/>
          </a:prstGeom>
          <a:noFill/>
          <a:ln>
            <a:noFill/>
          </a:ln>
        </p:spPr>
        <p:txBody>
          <a:bodyPr wrap="square" lIns="91440" tIns="68580" rIns="91440" bIns="68580"/>
          <a:lstStyle/>
          <a:p>
            <a:pPr marL="285750" indent="-171450">
              <a:buChar char="•"/>
            </a:pPr>
            <a:r>
              <a:rPr lang="ko-KR" sz="1200">
                <a:solidFill>
                  <a:srgbClr val="39465E"/>
                </a:solidFill>
                <a:latin typeface="맑은 고딕"/>
                <a:ea typeface="맑은 고딕"/>
              </a:rPr>
              <a:t>앱 문서함 수신</a:t>
            </a:r>
          </a:p>
          <a:p>
            <a:pPr marL="285750" indent="-171450">
              <a:buChar char="•"/>
            </a:pPr>
            <a:r>
              <a:rPr lang="ko-KR" sz="1200">
                <a:solidFill>
                  <a:srgbClr val="39465E"/>
                </a:solidFill>
                <a:latin typeface="맑은 고딕"/>
                <a:ea typeface="맑은 고딕"/>
              </a:rPr>
              <a:t>반려동물 기록 연결</a:t>
            </a:r>
          </a:p>
          <a:p>
            <a:pPr marL="285750" indent="-171450">
              <a:buChar char="•"/>
            </a:pPr>
            <a:r>
              <a:rPr lang="ko-KR" sz="1200">
                <a:solidFill>
                  <a:srgbClr val="39465E"/>
                </a:solidFill>
                <a:latin typeface="맑은 고딕"/>
                <a:ea typeface="맑은 고딕"/>
              </a:rPr>
              <a:t>QR/링크로 응급 공유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68580" rIns="91440" bIns="68580"/>
          <a:lstStyle/>
          <a:p>
            <a:pPr marL="0" indent="0"/>
            <a:r>
              <a:rPr lang="ko-KR" sz="1800">
                <a:solidFill>
                  <a:srgbClr val="172033"/>
                </a:solidFill>
                <a:latin typeface="맑은 고딕"/>
                <a:ea typeface="맑은 고딕"/>
              </a:rPr>
              <a:t/>
            </a:r>
          </a:p>
        </p:txBody>
      </p:sp>
      <p:sp>
        <p:nvSpPr>
          <p:cNvPr id="3" name="shape 3"/>
          <p:cNvSpPr txBox="1"/>
          <p:nvPr/>
        </p:nvSpPr>
        <p:spPr>
          <a:xfrm>
            <a:off x="502920" y="347472"/>
            <a:ext cx="6766560" cy="457200"/>
          </a:xfrm>
          <a:prstGeom prst="rect">
            <a:avLst/>
          </a:prstGeom>
          <a:noFill/>
          <a:ln>
            <a:noFill/>
          </a:ln>
        </p:spPr>
        <p:txBody>
          <a:bodyPr wrap="square" lIns="91440" tIns="68580" rIns="91440" bIns="68580"/>
          <a:lstStyle/>
          <a:p>
            <a:pPr marL="0" indent="0"/>
            <a:r>
              <a:rPr lang="ko-KR" sz="1200" b="1">
                <a:solidFill>
                  <a:srgbClr val="177954"/>
                </a:solidFill>
                <a:latin typeface="맑은 고딕"/>
                <a:ea typeface="맑은 고딕"/>
              </a:rPr>
              <a:t>문서 전송 UX</a:t>
            </a:r>
          </a:p>
        </p:txBody>
      </p:sp>
      <p:sp>
        <p:nvSpPr>
          <p:cNvPr id="4" name="shape 4"/>
          <p:cNvSpPr txBox="1"/>
          <p:nvPr/>
        </p:nvSpPr>
        <p:spPr>
          <a:xfrm>
            <a:off x="502920" y="804672"/>
            <a:ext cx="10058400" cy="731520"/>
          </a:xfrm>
          <a:prstGeom prst="rect">
            <a:avLst/>
          </a:prstGeom>
          <a:noFill/>
          <a:ln>
            <a:noFill/>
          </a:ln>
        </p:spPr>
        <p:txBody>
          <a:bodyPr wrap="square" lIns="91440" tIns="68580" rIns="91440" bIns="68580"/>
          <a:lstStyle/>
          <a:p>
            <a:pPr marL="0" indent="0"/>
            <a:r>
              <a:rPr lang="ko-KR" sz="2500" b="1">
                <a:solidFill>
                  <a:srgbClr val="172033"/>
                </a:solidFill>
                <a:latin typeface="맑은 고딕"/>
                <a:ea typeface="맑은 고딕"/>
              </a:rPr>
              <a:t>병원에서 보낸 서류는 보호자 앱 문서함에 자동 정리됩니다</a:t>
            </a:r>
          </a:p>
        </p:txBody>
      </p:sp>
      <p:sp>
        <p:nvSpPr>
          <p:cNvPr id="5" name="shape 5"/>
          <p:cNvSpPr txBox="1"/>
          <p:nvPr/>
        </p:nvSpPr>
        <p:spPr>
          <a:xfrm>
            <a:off x="502920" y="1664208"/>
            <a:ext cx="10515600" cy="548640"/>
          </a:xfrm>
          <a:prstGeom prst="rect">
            <a:avLst/>
          </a:prstGeom>
          <a:noFill/>
          <a:ln>
            <a:noFill/>
          </a:ln>
        </p:spPr>
        <p:txBody>
          <a:bodyPr wrap="square" lIns="91440" tIns="68580" rIns="91440" bIns="68580"/>
          <a:lstStyle/>
          <a:p>
            <a:pPr marL="0" indent="0"/>
            <a:r>
              <a:rPr lang="ko-KR" sz="1350">
                <a:solidFill>
                  <a:srgbClr val="657286"/>
                </a:solidFill>
                <a:latin typeface="맑은 고딕"/>
                <a:ea typeface="맑은 고딕"/>
              </a:rPr>
              <a:t>원본은 문서함에 저장하고, 필요한 건강기록에 연결하는 구조입니다.</a:t>
            </a:r>
          </a:p>
        </p:txBody>
      </p:sp>
      <p:sp>
        <p:nvSpPr>
          <p:cNvPr id="6" name="shape 6"/>
          <p:cNvSpPr txBox="1"/>
          <p:nvPr/>
        </p:nvSpPr>
        <p:spPr>
          <a:xfrm>
            <a:off x="502920" y="2487168"/>
            <a:ext cx="1755648" cy="2148840"/>
          </a:xfrm>
          <a:prstGeom prst="roundRect">
            <a:avLst/>
          </a:prstGeom>
          <a:solidFill>
            <a:srgbClr val="F6F8FB"/>
          </a:solidFill>
          <a:ln w="9525">
            <a:solidFill>
              <a:srgbClr val="DDE4EE"/>
            </a:solidFill>
          </a:ln>
        </p:spPr>
        <p:txBody>
          <a:bodyPr wrap="square" lIns="91440" tIns="68580" rIns="91440" bIns="68580"/>
          <a:lstStyle/>
          <a:p>
            <a:pPr marL="0" indent="0"/>
            <a:r>
              <a:rPr lang="ko-KR" sz="1350" b="1">
                <a:solidFill>
                  <a:srgbClr val="172033"/>
                </a:solidFill>
                <a:latin typeface="맑은 고딕"/>
                <a:ea typeface="맑은 고딕"/>
              </a:rPr>
              <a:t>1. 병원 업로드</a:t>
            </a:r>
          </a:p>
        </p:txBody>
      </p:sp>
      <p:sp>
        <p:nvSpPr>
          <p:cNvPr id="7" name="shape 7"/>
          <p:cNvSpPr txBox="1"/>
          <p:nvPr/>
        </p:nvSpPr>
        <p:spPr>
          <a:xfrm>
            <a:off x="530352" y="3154680"/>
            <a:ext cx="1700784" cy="1051560"/>
          </a:xfrm>
          <a:prstGeom prst="rect">
            <a:avLst/>
          </a:prstGeom>
          <a:noFill/>
          <a:ln>
            <a:noFill/>
          </a:ln>
        </p:spPr>
        <p:txBody>
          <a:bodyPr wrap="square" lIns="91440" tIns="68580" rIns="91440" bIns="68580"/>
          <a:lstStyle/>
          <a:p>
            <a:pPr marL="0" indent="0"/>
            <a:r>
              <a:rPr lang="ko-KR" sz="1120">
                <a:solidFill>
                  <a:srgbClr val="39465E"/>
                </a:solidFill>
                <a:latin typeface="맑은 고딕"/>
                <a:ea typeface="맑은 고딕"/>
              </a:rPr>
              <a:t>검사결과, 진단서, 소견서, 처방 안내</a:t>
            </a:r>
          </a:p>
        </p:txBody>
      </p:sp>
      <p:sp>
        <p:nvSpPr>
          <p:cNvPr id="8" name="shape 8"/>
          <p:cNvSpPr txBox="1"/>
          <p:nvPr/>
        </p:nvSpPr>
        <p:spPr>
          <a:xfrm>
            <a:off x="2240280" y="3182112"/>
            <a:ext cx="256032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68580" rIns="91440" bIns="68580"/>
          <a:lstStyle/>
          <a:p>
            <a:pPr marL="0" indent="0"/>
            <a:r>
              <a:rPr lang="ko-KR" sz="1550" b="1">
                <a:solidFill>
                  <a:srgbClr val="8A95A8"/>
                </a:solidFill>
                <a:latin typeface="맑은 고딕"/>
                <a:ea typeface="맑은 고딕"/>
              </a:rPr>
              <a:t>→</a:t>
            </a:r>
          </a:p>
        </p:txBody>
      </p:sp>
      <p:sp>
        <p:nvSpPr>
          <p:cNvPr id="9" name="shape 9"/>
          <p:cNvSpPr txBox="1"/>
          <p:nvPr/>
        </p:nvSpPr>
        <p:spPr>
          <a:xfrm>
            <a:off x="2459736" y="2487168"/>
            <a:ext cx="1755648" cy="2148840"/>
          </a:xfrm>
          <a:prstGeom prst="roundRect">
            <a:avLst/>
          </a:prstGeom>
          <a:solidFill>
            <a:srgbClr val="F6F8FB"/>
          </a:solidFill>
          <a:ln w="9525">
            <a:solidFill>
              <a:srgbClr val="DDE4EE"/>
            </a:solidFill>
          </a:ln>
        </p:spPr>
        <p:txBody>
          <a:bodyPr wrap="square" lIns="91440" tIns="68580" rIns="91440" bIns="68580"/>
          <a:lstStyle/>
          <a:p>
            <a:pPr marL="0" indent="0"/>
            <a:r>
              <a:rPr lang="ko-KR" sz="1350" b="1">
                <a:solidFill>
                  <a:srgbClr val="172033"/>
                </a:solidFill>
                <a:latin typeface="맑은 고딕"/>
                <a:ea typeface="맑은 고딕"/>
              </a:rPr>
              <a:t>2. 보호자 알림</a:t>
            </a:r>
          </a:p>
        </p:txBody>
      </p:sp>
      <p:sp>
        <p:nvSpPr>
          <p:cNvPr id="10" name="shape 10"/>
          <p:cNvSpPr txBox="1"/>
          <p:nvPr/>
        </p:nvSpPr>
        <p:spPr>
          <a:xfrm>
            <a:off x="2487168" y="3154680"/>
            <a:ext cx="1700784" cy="1051560"/>
          </a:xfrm>
          <a:prstGeom prst="rect">
            <a:avLst/>
          </a:prstGeom>
          <a:noFill/>
          <a:ln>
            <a:noFill/>
          </a:ln>
        </p:spPr>
        <p:txBody>
          <a:bodyPr wrap="square" lIns="91440" tIns="68580" rIns="91440" bIns="68580"/>
          <a:lstStyle/>
          <a:p>
            <a:pPr marL="0" indent="0"/>
            <a:r>
              <a:rPr lang="ko-KR" sz="1120">
                <a:solidFill>
                  <a:srgbClr val="39465E"/>
                </a:solidFill>
                <a:latin typeface="맑은 고딕"/>
                <a:ea typeface="맑은 고딕"/>
              </a:rPr>
              <a:t>A병원에서 새 문서 도착</a:t>
            </a:r>
          </a:p>
        </p:txBody>
      </p:sp>
      <p:sp>
        <p:nvSpPr>
          <p:cNvPr id="11" name="shape 11"/>
          <p:cNvSpPr txBox="1"/>
          <p:nvPr/>
        </p:nvSpPr>
        <p:spPr>
          <a:xfrm>
            <a:off x="4197096" y="3182112"/>
            <a:ext cx="256032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68580" rIns="91440" bIns="68580"/>
          <a:lstStyle/>
          <a:p>
            <a:pPr marL="0" indent="0"/>
            <a:r>
              <a:rPr lang="ko-KR" sz="1550" b="1">
                <a:solidFill>
                  <a:srgbClr val="8A95A8"/>
                </a:solidFill>
                <a:latin typeface="맑은 고딕"/>
                <a:ea typeface="맑은 고딕"/>
              </a:rPr>
              <a:t>→</a:t>
            </a:r>
          </a:p>
        </p:txBody>
      </p:sp>
      <p:sp>
        <p:nvSpPr>
          <p:cNvPr id="12" name="shape 12"/>
          <p:cNvSpPr txBox="1"/>
          <p:nvPr/>
        </p:nvSpPr>
        <p:spPr>
          <a:xfrm>
            <a:off x="4416552" y="2487168"/>
            <a:ext cx="1755648" cy="2148840"/>
          </a:xfrm>
          <a:prstGeom prst="roundRect">
            <a:avLst/>
          </a:prstGeom>
          <a:solidFill>
            <a:srgbClr val="F6F8FB"/>
          </a:solidFill>
          <a:ln w="9525">
            <a:solidFill>
              <a:srgbClr val="DDE4EE"/>
            </a:solidFill>
          </a:ln>
        </p:spPr>
        <p:txBody>
          <a:bodyPr wrap="square" lIns="91440" tIns="68580" rIns="91440" bIns="68580"/>
          <a:lstStyle/>
          <a:p>
            <a:pPr marL="0" indent="0"/>
            <a:r>
              <a:rPr lang="ko-KR" sz="1350" b="1">
                <a:solidFill>
                  <a:srgbClr val="172033"/>
                </a:solidFill>
                <a:latin typeface="맑은 고딕"/>
                <a:ea typeface="맑은 고딕"/>
              </a:rPr>
              <a:t>3. 문서함 저장</a:t>
            </a:r>
          </a:p>
        </p:txBody>
      </p:sp>
      <p:sp>
        <p:nvSpPr>
          <p:cNvPr id="13" name="shape 13"/>
          <p:cNvSpPr txBox="1"/>
          <p:nvPr/>
        </p:nvSpPr>
        <p:spPr>
          <a:xfrm>
            <a:off x="4443984" y="3154680"/>
            <a:ext cx="1700784" cy="1051560"/>
          </a:xfrm>
          <a:prstGeom prst="rect">
            <a:avLst/>
          </a:prstGeom>
          <a:noFill/>
          <a:ln>
            <a:noFill/>
          </a:ln>
        </p:spPr>
        <p:txBody>
          <a:bodyPr wrap="square" lIns="91440" tIns="68580" rIns="91440" bIns="68580"/>
          <a:lstStyle/>
          <a:p>
            <a:pPr marL="0" indent="0"/>
            <a:r>
              <a:rPr lang="ko-KR" sz="1120">
                <a:solidFill>
                  <a:srgbClr val="39465E"/>
                </a:solidFill>
                <a:latin typeface="맑은 고딕"/>
                <a:ea typeface="맑은 고딕"/>
              </a:rPr>
              <a:t>병원별/날짜별 원본 보관</a:t>
            </a:r>
          </a:p>
        </p:txBody>
      </p:sp>
      <p:sp>
        <p:nvSpPr>
          <p:cNvPr id="14" name="shape 14"/>
          <p:cNvSpPr txBox="1"/>
          <p:nvPr/>
        </p:nvSpPr>
        <p:spPr>
          <a:xfrm>
            <a:off x="6153912" y="3182112"/>
            <a:ext cx="256032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68580" rIns="91440" bIns="68580"/>
          <a:lstStyle/>
          <a:p>
            <a:pPr marL="0" indent="0"/>
            <a:r>
              <a:rPr lang="ko-KR" sz="1550" b="1">
                <a:solidFill>
                  <a:srgbClr val="8A95A8"/>
                </a:solidFill>
                <a:latin typeface="맑은 고딕"/>
                <a:ea typeface="맑은 고딕"/>
              </a:rPr>
              <a:t>→</a:t>
            </a:r>
          </a:p>
        </p:txBody>
      </p:sp>
      <p:sp>
        <p:nvSpPr>
          <p:cNvPr id="15" name="shape 15"/>
          <p:cNvSpPr txBox="1"/>
          <p:nvPr/>
        </p:nvSpPr>
        <p:spPr>
          <a:xfrm>
            <a:off x="6373368" y="2487168"/>
            <a:ext cx="1755648" cy="2148840"/>
          </a:xfrm>
          <a:prstGeom prst="roundRect">
            <a:avLst/>
          </a:prstGeom>
          <a:solidFill>
            <a:srgbClr val="F6F8FB"/>
          </a:solidFill>
          <a:ln w="9525">
            <a:solidFill>
              <a:srgbClr val="DDE4EE"/>
            </a:solidFill>
          </a:ln>
        </p:spPr>
        <p:txBody>
          <a:bodyPr wrap="square" lIns="91440" tIns="68580" rIns="91440" bIns="68580"/>
          <a:lstStyle/>
          <a:p>
            <a:pPr marL="0" indent="0"/>
            <a:r>
              <a:rPr lang="ko-KR" sz="1350" b="1">
                <a:solidFill>
                  <a:srgbClr val="172033"/>
                </a:solidFill>
                <a:latin typeface="맑은 고딕"/>
                <a:ea typeface="맑은 고딕"/>
              </a:rPr>
              <a:t>4. 기록 연결</a:t>
            </a:r>
          </a:p>
        </p:txBody>
      </p:sp>
      <p:sp>
        <p:nvSpPr>
          <p:cNvPr id="16" name="shape 16"/>
          <p:cNvSpPr txBox="1"/>
          <p:nvPr/>
        </p:nvSpPr>
        <p:spPr>
          <a:xfrm>
            <a:off x="6400800" y="3154680"/>
            <a:ext cx="1700784" cy="1051560"/>
          </a:xfrm>
          <a:prstGeom prst="rect">
            <a:avLst/>
          </a:prstGeom>
          <a:noFill/>
          <a:ln>
            <a:noFill/>
          </a:ln>
        </p:spPr>
        <p:txBody>
          <a:bodyPr wrap="square" lIns="91440" tIns="68580" rIns="91440" bIns="68580"/>
          <a:lstStyle/>
          <a:p>
            <a:pPr marL="0" indent="0"/>
            <a:r>
              <a:rPr lang="ko-KR" sz="1120">
                <a:solidFill>
                  <a:srgbClr val="39465E"/>
                </a:solidFill>
                <a:latin typeface="맑은 고딕"/>
                <a:ea typeface="맑은 고딕"/>
              </a:rPr>
              <a:t>새 진료기록 또는 기존 기록에 연결</a:t>
            </a:r>
          </a:p>
        </p:txBody>
      </p:sp>
      <p:sp>
        <p:nvSpPr>
          <p:cNvPr id="17" name="shape 17"/>
          <p:cNvSpPr txBox="1"/>
          <p:nvPr/>
        </p:nvSpPr>
        <p:spPr>
          <a:xfrm>
            <a:off x="8110728" y="3182112"/>
            <a:ext cx="256032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68580" rIns="91440" bIns="68580"/>
          <a:lstStyle/>
          <a:p>
            <a:pPr marL="0" indent="0"/>
            <a:r>
              <a:rPr lang="ko-KR" sz="1550" b="1">
                <a:solidFill>
                  <a:srgbClr val="8A95A8"/>
                </a:solidFill>
                <a:latin typeface="맑은 고딕"/>
                <a:ea typeface="맑은 고딕"/>
              </a:rPr>
              <a:t>→</a:t>
            </a:r>
          </a:p>
        </p:txBody>
      </p:sp>
      <p:sp>
        <p:nvSpPr>
          <p:cNvPr id="18" name="shape 18"/>
          <p:cNvSpPr txBox="1"/>
          <p:nvPr/>
        </p:nvSpPr>
        <p:spPr>
          <a:xfrm>
            <a:off x="8330184" y="2487168"/>
            <a:ext cx="1755648" cy="2148840"/>
          </a:xfrm>
          <a:prstGeom prst="roundRect">
            <a:avLst/>
          </a:prstGeom>
          <a:solidFill>
            <a:srgbClr val="F6F8FB"/>
          </a:solidFill>
          <a:ln w="9525">
            <a:solidFill>
              <a:srgbClr val="DDE4EE"/>
            </a:solidFill>
          </a:ln>
        </p:spPr>
        <p:txBody>
          <a:bodyPr wrap="square" lIns="91440" tIns="68580" rIns="91440" bIns="68580"/>
          <a:lstStyle/>
          <a:p>
            <a:pPr marL="0" indent="0"/>
            <a:r>
              <a:rPr lang="ko-KR" sz="1350" b="1">
                <a:solidFill>
                  <a:srgbClr val="172033"/>
                </a:solidFill>
                <a:latin typeface="맑은 고딕"/>
                <a:ea typeface="맑은 고딕"/>
              </a:rPr>
              <a:t>5. 열람/공유</a:t>
            </a:r>
          </a:p>
        </p:txBody>
      </p:sp>
      <p:sp>
        <p:nvSpPr>
          <p:cNvPr id="19" name="shape 19"/>
          <p:cNvSpPr txBox="1"/>
          <p:nvPr/>
        </p:nvSpPr>
        <p:spPr>
          <a:xfrm>
            <a:off x="8357616" y="3154680"/>
            <a:ext cx="1700784" cy="1051560"/>
          </a:xfrm>
          <a:prstGeom prst="rect">
            <a:avLst/>
          </a:prstGeom>
          <a:noFill/>
          <a:ln>
            <a:noFill/>
          </a:ln>
        </p:spPr>
        <p:txBody>
          <a:bodyPr wrap="square" lIns="91440" tIns="68580" rIns="91440" bIns="68580"/>
          <a:lstStyle/>
          <a:p>
            <a:pPr marL="0" indent="0"/>
            <a:r>
              <a:rPr lang="ko-KR" sz="1120">
                <a:solidFill>
                  <a:srgbClr val="39465E"/>
                </a:solidFill>
                <a:latin typeface="맑은 고딕"/>
                <a:ea typeface="맑은 고딕"/>
              </a:rPr>
              <a:t>앱에서 확인, QR/링크/PDF 내보내기</a:t>
            </a:r>
          </a:p>
        </p:txBody>
      </p:sp>
      <p:sp>
        <p:nvSpPr>
          <p:cNvPr id="20" name="shape 20"/>
          <p:cNvSpPr txBox="1"/>
          <p:nvPr/>
        </p:nvSpPr>
        <p:spPr>
          <a:xfrm>
            <a:off x="10067544" y="3182112"/>
            <a:ext cx="256032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68580" rIns="91440" bIns="68580"/>
          <a:lstStyle/>
          <a:p>
            <a:pPr marL="0" indent="0"/>
            <a:r>
              <a:rPr lang="ko-KR" sz="1550" b="1">
                <a:solidFill>
                  <a:srgbClr val="8A95A8"/>
                </a:solidFill>
                <a:latin typeface="맑은 고딕"/>
                <a:ea typeface="맑은 고딕"/>
              </a:rPr>
              <a:t>→</a:t>
            </a:r>
          </a:p>
        </p:txBody>
      </p:sp>
      <p:sp>
        <p:nvSpPr>
          <p:cNvPr id="21" name="shape 21"/>
          <p:cNvSpPr txBox="1"/>
          <p:nvPr/>
        </p:nvSpPr>
        <p:spPr>
          <a:xfrm>
            <a:off x="10287000" y="2487168"/>
            <a:ext cx="1755648" cy="2148840"/>
          </a:xfrm>
          <a:prstGeom prst="roundRect">
            <a:avLst/>
          </a:prstGeom>
          <a:solidFill>
            <a:srgbClr val="F6F8FB"/>
          </a:solidFill>
          <a:ln w="9525">
            <a:solidFill>
              <a:srgbClr val="DDE4EE"/>
            </a:solidFill>
          </a:ln>
        </p:spPr>
        <p:txBody>
          <a:bodyPr wrap="square" lIns="91440" tIns="68580" rIns="91440" bIns="68580"/>
          <a:lstStyle/>
          <a:p>
            <a:pPr marL="0" indent="0"/>
            <a:r>
              <a:rPr lang="ko-KR" sz="1350" b="1">
                <a:solidFill>
                  <a:srgbClr val="172033"/>
                </a:solidFill>
                <a:latin typeface="맑은 고딕"/>
                <a:ea typeface="맑은 고딕"/>
              </a:rPr>
              <a:t>6. 재방문 활용</a:t>
            </a:r>
          </a:p>
        </p:txBody>
      </p:sp>
      <p:sp>
        <p:nvSpPr>
          <p:cNvPr id="22" name="shape 22"/>
          <p:cNvSpPr txBox="1"/>
          <p:nvPr/>
        </p:nvSpPr>
        <p:spPr>
          <a:xfrm>
            <a:off x="10314432" y="3154680"/>
            <a:ext cx="1700784" cy="1051560"/>
          </a:xfrm>
          <a:prstGeom prst="rect">
            <a:avLst/>
          </a:prstGeom>
          <a:noFill/>
          <a:ln>
            <a:noFill/>
          </a:ln>
        </p:spPr>
        <p:txBody>
          <a:bodyPr wrap="square" lIns="91440" tIns="68580" rIns="91440" bIns="68580"/>
          <a:lstStyle/>
          <a:p>
            <a:pPr marL="0" indent="0"/>
            <a:r>
              <a:rPr lang="ko-KR" sz="1120">
                <a:solidFill>
                  <a:srgbClr val="39465E"/>
                </a:solidFill>
                <a:latin typeface="맑은 고딕"/>
                <a:ea typeface="맑은 고딕"/>
              </a:rPr>
              <a:t>담당 수의사가 이전 기록을 빠르게 파악</a:t>
            </a:r>
          </a:p>
        </p:txBody>
      </p:sp>
      <p:sp>
        <p:nvSpPr>
          <p:cNvPr id="43" name="shape 43"/>
          <p:cNvSpPr txBox="1"/>
          <p:nvPr/>
        </p:nvSpPr>
        <p:spPr>
          <a:xfrm>
            <a:off x="594360" y="5669280"/>
            <a:ext cx="10972800" cy="640080"/>
          </a:xfrm>
          <a:prstGeom prst="roundRect">
            <a:avLst/>
          </a:prstGeom>
          <a:solidFill>
            <a:srgbClr val="EFFAF4"/>
          </a:solidFill>
          <a:ln w="9525">
            <a:solidFill>
              <a:srgbClr val="BFE5D4"/>
            </a:solidFill>
          </a:ln>
        </p:spPr>
        <p:txBody>
          <a:bodyPr wrap="square" lIns="91440" tIns="68580" rIns="91440" bIns="68580"/>
          <a:lstStyle/>
          <a:p>
            <a:pPr marL="0" indent="0"/>
            <a:r>
              <a:rPr lang="ko-KR" sz="1250" b="1">
                <a:solidFill>
                  <a:srgbClr val="177954"/>
                </a:solidFill>
                <a:latin typeface="맑은 고딕"/>
                <a:ea typeface="맑은 고딕"/>
              </a:rPr>
              <a:t>보호자 첨부파일과 병원 발송 문서는 분리해서 보여주므로 기록 화면이 복잡해지지 않습니다.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68580" rIns="91440" bIns="68580"/>
          <a:lstStyle/>
          <a:p>
            <a:pPr marL="0" indent="0"/>
            <a:r>
              <a:rPr lang="ko-KR" sz="1800">
                <a:solidFill>
                  <a:srgbClr val="172033"/>
                </a:solidFill>
                <a:latin typeface="맑은 고딕"/>
                <a:ea typeface="맑은 고딕"/>
              </a:rPr>
              <a:t/>
            </a:r>
          </a:p>
        </p:txBody>
      </p:sp>
      <p:sp>
        <p:nvSpPr>
          <p:cNvPr id="3" name="shape 3"/>
          <p:cNvSpPr txBox="1"/>
          <p:nvPr/>
        </p:nvSpPr>
        <p:spPr>
          <a:xfrm>
            <a:off x="502920" y="347472"/>
            <a:ext cx="6766560" cy="457200"/>
          </a:xfrm>
          <a:prstGeom prst="rect">
            <a:avLst/>
          </a:prstGeom>
          <a:noFill/>
          <a:ln>
            <a:noFill/>
          </a:ln>
        </p:spPr>
        <p:txBody>
          <a:bodyPr wrap="square" lIns="91440" tIns="68580" rIns="91440" bIns="68580"/>
          <a:lstStyle/>
          <a:p>
            <a:pPr marL="0" indent="0"/>
            <a:r>
              <a:rPr lang="ko-KR" sz="1200" b="1">
                <a:solidFill>
                  <a:srgbClr val="2368D9"/>
                </a:solidFill>
                <a:latin typeface="맑은 고딕"/>
                <a:ea typeface="맑은 고딕"/>
              </a:rPr>
              <a:t>병원찾기 개편</a:t>
            </a:r>
          </a:p>
        </p:txBody>
      </p:sp>
      <p:sp>
        <p:nvSpPr>
          <p:cNvPr id="4" name="shape 4"/>
          <p:cNvSpPr txBox="1"/>
          <p:nvPr/>
        </p:nvSpPr>
        <p:spPr>
          <a:xfrm>
            <a:off x="502920" y="804672"/>
            <a:ext cx="9966960" cy="731520"/>
          </a:xfrm>
          <a:prstGeom prst="rect">
            <a:avLst/>
          </a:prstGeom>
          <a:noFill/>
          <a:ln>
            <a:noFill/>
          </a:ln>
        </p:spPr>
        <p:txBody>
          <a:bodyPr wrap="square" lIns="91440" tIns="68580" rIns="91440" bIns="68580"/>
          <a:lstStyle/>
          <a:p>
            <a:pPr marL="0" indent="0"/>
            <a:r>
              <a:rPr lang="ko-KR" sz="2500" b="1">
                <a:solidFill>
                  <a:srgbClr val="172033"/>
                </a:solidFill>
                <a:latin typeface="맑은 고딕"/>
                <a:ea typeface="맑은 고딕"/>
              </a:rPr>
              <a:t>제휴 병원은 지도에서 기능형 홍보가 가능합니다</a:t>
            </a:r>
          </a:p>
        </p:txBody>
      </p:sp>
      <p:sp>
        <p:nvSpPr>
          <p:cNvPr id="5" name="shape 5"/>
          <p:cNvSpPr txBox="1"/>
          <p:nvPr/>
        </p:nvSpPr>
        <p:spPr>
          <a:xfrm>
            <a:off x="502920" y="1691640"/>
            <a:ext cx="11155680" cy="502920"/>
          </a:xfrm>
          <a:prstGeom prst="rect">
            <a:avLst/>
          </a:prstGeom>
          <a:noFill/>
          <a:ln>
            <a:noFill/>
          </a:ln>
        </p:spPr>
        <p:txBody>
          <a:bodyPr wrap="square" lIns="91440" tIns="68580" rIns="91440" bIns="68580"/>
          <a:lstStyle/>
          <a:p>
            <a:pPr marL="0" indent="0"/>
            <a:r>
              <a:rPr lang="ko-KR" sz="1350">
                <a:solidFill>
                  <a:srgbClr val="657286"/>
                </a:solidFill>
                <a:latin typeface="맑은 고딕"/>
                <a:ea typeface="맑은 고딕"/>
              </a:rPr>
              <a:t>단순 광고가 아니라 PawDex에서 실제로 예약·문서수신·기록공유가 가능한 병원으로 표시됩니다.</a:t>
            </a:r>
          </a:p>
        </p:txBody>
      </p:sp>
      <p:sp>
        <p:nvSpPr>
          <p:cNvPr id="20" name="shape 20"/>
          <p:cNvSpPr txBox="1"/>
          <p:nvPr/>
        </p:nvSpPr>
        <p:spPr>
          <a:xfrm>
            <a:off x="502920" y="2423160"/>
            <a:ext cx="3520440" cy="2148840"/>
          </a:xfrm>
          <a:prstGeom prst="roundRect">
            <a:avLst/>
          </a:prstGeom>
          <a:solidFill>
            <a:srgbClr val="F6F8FB"/>
          </a:solidFill>
          <a:ln w="9525">
            <a:solidFill>
              <a:srgbClr val="DDE4EE"/>
            </a:solidFill>
          </a:ln>
        </p:spPr>
        <p:txBody>
          <a:bodyPr wrap="square" lIns="91440" tIns="68580" rIns="91440" bIns="68580"/>
          <a:lstStyle/>
          <a:p>
            <a:pPr marL="0" indent="0"/>
            <a:r>
              <a:rPr lang="ko-KR" sz="1550" b="1">
                <a:solidFill>
                  <a:srgbClr val="172033"/>
                </a:solidFill>
                <a:latin typeface="맑은 고딕"/>
                <a:ea typeface="맑은 고딕"/>
              </a:rPr>
              <a:t>지도 표시</a:t>
            </a:r>
          </a:p>
        </p:txBody>
      </p:sp>
      <p:sp>
        <p:nvSpPr>
          <p:cNvPr id="21" name="shape 21"/>
          <p:cNvSpPr txBox="1"/>
          <p:nvPr/>
        </p:nvSpPr>
        <p:spPr>
          <a:xfrm>
            <a:off x="548640" y="2926080"/>
            <a:ext cx="3429000" cy="1581912"/>
          </a:xfrm>
          <a:prstGeom prst="rect">
            <a:avLst/>
          </a:prstGeom>
          <a:noFill/>
          <a:ln>
            <a:noFill/>
          </a:ln>
        </p:spPr>
        <p:txBody>
          <a:bodyPr wrap="square" lIns="91440" tIns="68580" rIns="91440" bIns="68580"/>
          <a:lstStyle/>
          <a:p>
            <a:pPr marL="285750" indent="-171450">
              <a:buChar char="•"/>
            </a:pPr>
            <a:r>
              <a:rPr lang="ko-KR" sz="1200">
                <a:solidFill>
                  <a:srgbClr val="39465E"/>
                </a:solidFill>
                <a:latin typeface="맑은 고딕"/>
                <a:ea typeface="맑은 고딕"/>
              </a:rPr>
              <a:t>제휴 병원 마커/배지</a:t>
            </a:r>
          </a:p>
          <a:p>
            <a:pPr marL="285750" indent="-171450">
              <a:buChar char="•"/>
            </a:pPr>
            <a:r>
              <a:rPr lang="ko-KR" sz="1200">
                <a:solidFill>
                  <a:srgbClr val="39465E"/>
                </a:solidFill>
                <a:latin typeface="맑은 고딕"/>
                <a:ea typeface="맑은 고딕"/>
              </a:rPr>
              <a:t>리스트 우선 노출</a:t>
            </a:r>
          </a:p>
          <a:p>
            <a:pPr marL="285750" indent="-171450">
              <a:buChar char="•"/>
            </a:pPr>
            <a:r>
              <a:rPr lang="ko-KR" sz="1200">
                <a:solidFill>
                  <a:srgbClr val="39465E"/>
                </a:solidFill>
                <a:latin typeface="맑은 고딕"/>
                <a:ea typeface="맑은 고딕"/>
              </a:rPr>
              <a:t>전문 진료/소개 표시</a:t>
            </a:r>
          </a:p>
        </p:txBody>
      </p:sp>
      <p:sp>
        <p:nvSpPr>
          <p:cNvPr id="22" name="shape 22"/>
          <p:cNvSpPr txBox="1"/>
          <p:nvPr/>
        </p:nvSpPr>
        <p:spPr>
          <a:xfrm>
            <a:off x="4315968" y="2423160"/>
            <a:ext cx="3520440" cy="2148840"/>
          </a:xfrm>
          <a:prstGeom prst="roundRect">
            <a:avLst/>
          </a:prstGeom>
          <a:solidFill>
            <a:srgbClr val="F6F8FB"/>
          </a:solidFill>
          <a:ln w="9525">
            <a:solidFill>
              <a:srgbClr val="DDE4EE"/>
            </a:solidFill>
          </a:ln>
        </p:spPr>
        <p:txBody>
          <a:bodyPr wrap="square" lIns="91440" tIns="68580" rIns="91440" bIns="68580"/>
          <a:lstStyle/>
          <a:p>
            <a:pPr marL="0" indent="0"/>
            <a:r>
              <a:rPr lang="ko-KR" sz="1550" b="1">
                <a:solidFill>
                  <a:srgbClr val="172033"/>
                </a:solidFill>
                <a:latin typeface="맑은 고딕"/>
                <a:ea typeface="맑은 고딕"/>
              </a:rPr>
              <a:t>하단 패널</a:t>
            </a:r>
          </a:p>
        </p:txBody>
      </p:sp>
      <p:sp>
        <p:nvSpPr>
          <p:cNvPr id="23" name="shape 23"/>
          <p:cNvSpPr txBox="1"/>
          <p:nvPr/>
        </p:nvSpPr>
        <p:spPr>
          <a:xfrm>
            <a:off x="4361688" y="2926080"/>
            <a:ext cx="3429000" cy="1581912"/>
          </a:xfrm>
          <a:prstGeom prst="rect">
            <a:avLst/>
          </a:prstGeom>
          <a:noFill/>
          <a:ln>
            <a:noFill/>
          </a:ln>
        </p:spPr>
        <p:txBody>
          <a:bodyPr wrap="square" lIns="91440" tIns="68580" rIns="91440" bIns="68580"/>
          <a:lstStyle/>
          <a:p>
            <a:pPr marL="285750" indent="-171450">
              <a:buChar char="•"/>
            </a:pPr>
            <a:r>
              <a:rPr lang="ko-KR" sz="1200">
                <a:solidFill>
                  <a:srgbClr val="39465E"/>
                </a:solidFill>
                <a:latin typeface="맑은 고딕"/>
                <a:ea typeface="맑은 고딕"/>
              </a:rPr>
              <a:t>예약 요청</a:t>
            </a:r>
          </a:p>
          <a:p>
            <a:pPr marL="285750" indent="-171450">
              <a:buChar char="•"/>
            </a:pPr>
            <a:r>
              <a:rPr lang="ko-KR" sz="1200">
                <a:solidFill>
                  <a:srgbClr val="39465E"/>
                </a:solidFill>
                <a:latin typeface="맑은 고딕"/>
                <a:ea typeface="맑은 고딕"/>
              </a:rPr>
              <a:t>기록 공유</a:t>
            </a:r>
          </a:p>
          <a:p>
            <a:pPr marL="285750" indent="-171450">
              <a:buChar char="•"/>
            </a:pPr>
            <a:r>
              <a:rPr lang="ko-KR" sz="1200">
                <a:solidFill>
                  <a:srgbClr val="39465E"/>
                </a:solidFill>
                <a:latin typeface="맑은 고딕"/>
                <a:ea typeface="맑은 고딕"/>
              </a:rPr>
              <a:t>받은 문서</a:t>
            </a:r>
          </a:p>
          <a:p>
            <a:pPr marL="285750" indent="-171450">
              <a:buChar char="•"/>
            </a:pPr>
            <a:r>
              <a:rPr lang="ko-KR" sz="1200">
                <a:solidFill>
                  <a:srgbClr val="39465E"/>
                </a:solidFill>
                <a:latin typeface="맑은 고딕"/>
                <a:ea typeface="맑은 고딕"/>
              </a:rPr>
              <a:t>전화/길찾기</a:t>
            </a:r>
          </a:p>
        </p:txBody>
      </p:sp>
      <p:sp>
        <p:nvSpPr>
          <p:cNvPr id="24" name="shape 24"/>
          <p:cNvSpPr txBox="1"/>
          <p:nvPr/>
        </p:nvSpPr>
        <p:spPr>
          <a:xfrm>
            <a:off x="8129016" y="2423160"/>
            <a:ext cx="3520440" cy="2148840"/>
          </a:xfrm>
          <a:prstGeom prst="roundRect">
            <a:avLst/>
          </a:prstGeom>
          <a:solidFill>
            <a:srgbClr val="F6F8FB"/>
          </a:solidFill>
          <a:ln w="9525">
            <a:solidFill>
              <a:srgbClr val="DDE4EE"/>
            </a:solidFill>
          </a:ln>
        </p:spPr>
        <p:txBody>
          <a:bodyPr wrap="square" lIns="91440" tIns="68580" rIns="91440" bIns="68580"/>
          <a:lstStyle/>
          <a:p>
            <a:pPr marL="0" indent="0"/>
            <a:r>
              <a:rPr lang="ko-KR" sz="1550" b="1">
                <a:solidFill>
                  <a:srgbClr val="172033"/>
                </a:solidFill>
                <a:latin typeface="맑은 고딕"/>
                <a:ea typeface="맑은 고딕"/>
              </a:rPr>
              <a:t>보호자 신뢰</a:t>
            </a:r>
          </a:p>
        </p:txBody>
      </p:sp>
      <p:sp>
        <p:nvSpPr>
          <p:cNvPr id="25" name="shape 25"/>
          <p:cNvSpPr txBox="1"/>
          <p:nvPr/>
        </p:nvSpPr>
        <p:spPr>
          <a:xfrm>
            <a:off x="8174736" y="2926080"/>
            <a:ext cx="3429000" cy="1581912"/>
          </a:xfrm>
          <a:prstGeom prst="rect">
            <a:avLst/>
          </a:prstGeom>
          <a:noFill/>
          <a:ln>
            <a:noFill/>
          </a:ln>
        </p:spPr>
        <p:txBody>
          <a:bodyPr wrap="square" lIns="91440" tIns="68580" rIns="91440" bIns="68580"/>
          <a:lstStyle/>
          <a:p>
            <a:pPr marL="285750" indent="-171450">
              <a:buChar char="•"/>
            </a:pPr>
            <a:r>
              <a:rPr lang="ko-KR" sz="1200">
                <a:solidFill>
                  <a:srgbClr val="39465E"/>
                </a:solidFill>
                <a:latin typeface="맑은 고딕"/>
                <a:ea typeface="맑은 고딕"/>
              </a:rPr>
              <a:t>앱으로 문서 받는 병원</a:t>
            </a:r>
          </a:p>
          <a:p>
            <a:pPr marL="285750" indent="-171450">
              <a:buChar char="•"/>
            </a:pPr>
            <a:r>
              <a:rPr lang="ko-KR" sz="1200">
                <a:solidFill>
                  <a:srgbClr val="39465E"/>
                </a:solidFill>
                <a:latin typeface="맑은 고딕"/>
                <a:ea typeface="맑은 고딕"/>
              </a:rPr>
              <a:t>기록 공유 가능한 병원</a:t>
            </a:r>
          </a:p>
          <a:p>
            <a:pPr marL="285750" indent="-171450">
              <a:buChar char="•"/>
            </a:pPr>
            <a:r>
              <a:rPr lang="ko-KR" sz="1200">
                <a:solidFill>
                  <a:srgbClr val="39465E"/>
                </a:solidFill>
                <a:latin typeface="맑은 고딕"/>
                <a:ea typeface="맑은 고딕"/>
              </a:rPr>
              <a:t>재방문 편의가 높은 병원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68580" rIns="91440" bIns="68580"/>
          <a:lstStyle/>
          <a:p>
            <a:pPr marL="0" indent="0"/>
            <a:r>
              <a:rPr lang="ko-KR" sz="1800">
                <a:solidFill>
                  <a:srgbClr val="172033"/>
                </a:solidFill>
                <a:latin typeface="맑은 고딕"/>
                <a:ea typeface="맑은 고딕"/>
              </a:rPr>
              <a:t/>
            </a:r>
          </a:p>
        </p:txBody>
      </p:sp>
      <p:sp>
        <p:nvSpPr>
          <p:cNvPr id="3" name="shape 3"/>
          <p:cNvSpPr txBox="1"/>
          <p:nvPr/>
        </p:nvSpPr>
        <p:spPr>
          <a:xfrm>
            <a:off x="502920" y="347472"/>
            <a:ext cx="6766560" cy="457200"/>
          </a:xfrm>
          <a:prstGeom prst="rect">
            <a:avLst/>
          </a:prstGeom>
          <a:noFill/>
          <a:ln>
            <a:noFill/>
          </a:ln>
        </p:spPr>
        <p:txBody>
          <a:bodyPr wrap="square" lIns="91440" tIns="68580" rIns="91440" bIns="68580"/>
          <a:lstStyle/>
          <a:p>
            <a:pPr marL="0" indent="0"/>
            <a:r>
              <a:rPr lang="ko-KR" sz="1200" b="1">
                <a:solidFill>
                  <a:srgbClr val="2368D9"/>
                </a:solidFill>
                <a:latin typeface="맑은 고딕"/>
                <a:ea typeface="맑은 고딕"/>
              </a:rPr>
              <a:t>예약 기능</a:t>
            </a:r>
          </a:p>
        </p:txBody>
      </p:sp>
      <p:sp>
        <p:nvSpPr>
          <p:cNvPr id="4" name="shape 4"/>
          <p:cNvSpPr txBox="1"/>
          <p:nvPr/>
        </p:nvSpPr>
        <p:spPr>
          <a:xfrm>
            <a:off x="502920" y="804672"/>
            <a:ext cx="9966960" cy="731520"/>
          </a:xfrm>
          <a:prstGeom prst="rect">
            <a:avLst/>
          </a:prstGeom>
          <a:noFill/>
          <a:ln>
            <a:noFill/>
          </a:ln>
        </p:spPr>
        <p:txBody>
          <a:bodyPr wrap="square" lIns="91440" tIns="68580" rIns="91440" bIns="68580"/>
          <a:lstStyle/>
          <a:p>
            <a:pPr marL="0" indent="0"/>
            <a:r>
              <a:rPr lang="ko-KR" sz="2500" b="1">
                <a:solidFill>
                  <a:srgbClr val="172033"/>
                </a:solidFill>
                <a:latin typeface="맑은 고딕"/>
                <a:ea typeface="맑은 고딕"/>
              </a:rPr>
              <a:t>처음 예약은 간단한 “요청/확정”부터 시작합니다</a:t>
            </a:r>
          </a:p>
        </p:txBody>
      </p:sp>
      <p:sp>
        <p:nvSpPr>
          <p:cNvPr id="5" name="shape 5"/>
          <p:cNvSpPr txBox="1"/>
          <p:nvPr/>
        </p:nvSpPr>
        <p:spPr>
          <a:xfrm>
            <a:off x="502920" y="1691640"/>
            <a:ext cx="11155680" cy="502920"/>
          </a:xfrm>
          <a:prstGeom prst="rect">
            <a:avLst/>
          </a:prstGeom>
          <a:noFill/>
          <a:ln>
            <a:noFill/>
          </a:ln>
        </p:spPr>
        <p:txBody>
          <a:bodyPr wrap="square" lIns="91440" tIns="68580" rIns="91440" bIns="68580"/>
          <a:lstStyle/>
          <a:p>
            <a:pPr marL="0" indent="0"/>
            <a:r>
              <a:rPr lang="ko-KR" sz="1350">
                <a:solidFill>
                  <a:srgbClr val="657286"/>
                </a:solidFill>
                <a:latin typeface="맑은 고딕"/>
                <a:ea typeface="맑은 고딕"/>
              </a:rPr>
              <a:t>EMR 전체를 대체하지 않고, 보호자가 구조화된 예약 요청을 보내는 범위부터 검증합니다.</a:t>
            </a:r>
          </a:p>
        </p:txBody>
      </p:sp>
      <p:sp>
        <p:nvSpPr>
          <p:cNvPr id="20" name="shape 20"/>
          <p:cNvSpPr txBox="1"/>
          <p:nvPr/>
        </p:nvSpPr>
        <p:spPr>
          <a:xfrm>
            <a:off x="502920" y="2423160"/>
            <a:ext cx="3520440" cy="2148840"/>
          </a:xfrm>
          <a:prstGeom prst="roundRect">
            <a:avLst/>
          </a:prstGeom>
          <a:solidFill>
            <a:srgbClr val="F6F8FB"/>
          </a:solidFill>
          <a:ln w="9525">
            <a:solidFill>
              <a:srgbClr val="DDE4EE"/>
            </a:solidFill>
          </a:ln>
        </p:spPr>
        <p:txBody>
          <a:bodyPr wrap="square" lIns="91440" tIns="68580" rIns="91440" bIns="68580"/>
          <a:lstStyle/>
          <a:p>
            <a:pPr marL="0" indent="0"/>
            <a:r>
              <a:rPr lang="ko-KR" sz="1550" b="1">
                <a:solidFill>
                  <a:srgbClr val="172033"/>
                </a:solidFill>
                <a:latin typeface="맑은 고딕"/>
                <a:ea typeface="맑은 고딕"/>
              </a:rPr>
              <a:t>보호자 입력</a:t>
            </a:r>
          </a:p>
        </p:txBody>
      </p:sp>
      <p:sp>
        <p:nvSpPr>
          <p:cNvPr id="21" name="shape 21"/>
          <p:cNvSpPr txBox="1"/>
          <p:nvPr/>
        </p:nvSpPr>
        <p:spPr>
          <a:xfrm>
            <a:off x="548640" y="2926080"/>
            <a:ext cx="3429000" cy="1581912"/>
          </a:xfrm>
          <a:prstGeom prst="rect">
            <a:avLst/>
          </a:prstGeom>
          <a:noFill/>
          <a:ln>
            <a:noFill/>
          </a:ln>
        </p:spPr>
        <p:txBody>
          <a:bodyPr wrap="square" lIns="91440" tIns="68580" rIns="91440" bIns="68580"/>
          <a:lstStyle/>
          <a:p>
            <a:pPr marL="285750" indent="-171450">
              <a:buChar char="•"/>
            </a:pPr>
            <a:r>
              <a:rPr lang="ko-KR" sz="1200">
                <a:solidFill>
                  <a:srgbClr val="39465E"/>
                </a:solidFill>
                <a:latin typeface="맑은 고딕"/>
                <a:ea typeface="맑은 고딕"/>
              </a:rPr>
              <a:t>날짜/시간 희망</a:t>
            </a:r>
          </a:p>
          <a:p>
            <a:pPr marL="285750" indent="-171450">
              <a:buChar char="•"/>
            </a:pPr>
            <a:r>
              <a:rPr lang="ko-KR" sz="1200">
                <a:solidFill>
                  <a:srgbClr val="39465E"/>
                </a:solidFill>
                <a:latin typeface="맑은 고딕"/>
                <a:ea typeface="맑은 고딕"/>
              </a:rPr>
              <a:t>진료 목적</a:t>
            </a:r>
          </a:p>
          <a:p>
            <a:pPr marL="285750" indent="-171450">
              <a:buChar char="•"/>
            </a:pPr>
            <a:r>
              <a:rPr lang="ko-KR" sz="1200">
                <a:solidFill>
                  <a:srgbClr val="39465E"/>
                </a:solidFill>
                <a:latin typeface="맑은 고딕"/>
                <a:ea typeface="맑은 고딕"/>
              </a:rPr>
              <a:t>담당 수의사 선택</a:t>
            </a:r>
          </a:p>
          <a:p>
            <a:pPr marL="285750" indent="-171450">
              <a:buChar char="•"/>
            </a:pPr>
            <a:r>
              <a:rPr lang="ko-KR" sz="1200">
                <a:solidFill>
                  <a:srgbClr val="39465E"/>
                </a:solidFill>
                <a:latin typeface="맑은 고딕"/>
                <a:ea typeface="맑은 고딕"/>
              </a:rPr>
              <a:t>기록 공유 여부</a:t>
            </a:r>
          </a:p>
        </p:txBody>
      </p:sp>
      <p:sp>
        <p:nvSpPr>
          <p:cNvPr id="22" name="shape 22"/>
          <p:cNvSpPr txBox="1"/>
          <p:nvPr/>
        </p:nvSpPr>
        <p:spPr>
          <a:xfrm>
            <a:off x="4315968" y="2423160"/>
            <a:ext cx="3520440" cy="2148840"/>
          </a:xfrm>
          <a:prstGeom prst="roundRect">
            <a:avLst/>
          </a:prstGeom>
          <a:solidFill>
            <a:srgbClr val="F6F8FB"/>
          </a:solidFill>
          <a:ln w="9525">
            <a:solidFill>
              <a:srgbClr val="DDE4EE"/>
            </a:solidFill>
          </a:ln>
        </p:spPr>
        <p:txBody>
          <a:bodyPr wrap="square" lIns="91440" tIns="68580" rIns="91440" bIns="68580"/>
          <a:lstStyle/>
          <a:p>
            <a:pPr marL="0" indent="0"/>
            <a:r>
              <a:rPr lang="ko-KR" sz="1550" b="1">
                <a:solidFill>
                  <a:srgbClr val="172033"/>
                </a:solidFill>
                <a:latin typeface="맑은 고딕"/>
                <a:ea typeface="맑은 고딕"/>
              </a:rPr>
              <a:t>병원 처리</a:t>
            </a:r>
          </a:p>
        </p:txBody>
      </p:sp>
      <p:sp>
        <p:nvSpPr>
          <p:cNvPr id="23" name="shape 23"/>
          <p:cNvSpPr txBox="1"/>
          <p:nvPr/>
        </p:nvSpPr>
        <p:spPr>
          <a:xfrm>
            <a:off x="4361688" y="2926080"/>
            <a:ext cx="3429000" cy="1581912"/>
          </a:xfrm>
          <a:prstGeom prst="rect">
            <a:avLst/>
          </a:prstGeom>
          <a:noFill/>
          <a:ln>
            <a:noFill/>
          </a:ln>
        </p:spPr>
        <p:txBody>
          <a:bodyPr wrap="square" lIns="91440" tIns="68580" rIns="91440" bIns="68580"/>
          <a:lstStyle/>
          <a:p>
            <a:pPr marL="285750" indent="-171450">
              <a:buChar char="•"/>
            </a:pPr>
            <a:r>
              <a:rPr lang="ko-KR" sz="1200">
                <a:solidFill>
                  <a:srgbClr val="39465E"/>
                </a:solidFill>
                <a:latin typeface="맑은 고딕"/>
                <a:ea typeface="맑은 고딕"/>
              </a:rPr>
              <a:t>요청 확인</a:t>
            </a:r>
          </a:p>
          <a:p>
            <a:pPr marL="285750" indent="-171450">
              <a:buChar char="•"/>
            </a:pPr>
            <a:r>
              <a:rPr lang="ko-KR" sz="1200">
                <a:solidFill>
                  <a:srgbClr val="39465E"/>
                </a:solidFill>
                <a:latin typeface="맑은 고딕"/>
                <a:ea typeface="맑은 고딕"/>
              </a:rPr>
              <a:t>확정/변경/취소</a:t>
            </a:r>
          </a:p>
          <a:p>
            <a:pPr marL="285750" indent="-171450">
              <a:buChar char="•"/>
            </a:pPr>
            <a:r>
              <a:rPr lang="ko-KR" sz="1200">
                <a:solidFill>
                  <a:srgbClr val="39465E"/>
                </a:solidFill>
                <a:latin typeface="맑은 고딕"/>
                <a:ea typeface="맑은 고딕"/>
              </a:rPr>
              <a:t>보호자 알림 발송</a:t>
            </a:r>
          </a:p>
        </p:txBody>
      </p:sp>
      <p:sp>
        <p:nvSpPr>
          <p:cNvPr id="24" name="shape 24"/>
          <p:cNvSpPr txBox="1"/>
          <p:nvPr/>
        </p:nvSpPr>
        <p:spPr>
          <a:xfrm>
            <a:off x="8129016" y="2423160"/>
            <a:ext cx="3520440" cy="2148840"/>
          </a:xfrm>
          <a:prstGeom prst="roundRect">
            <a:avLst/>
          </a:prstGeom>
          <a:solidFill>
            <a:srgbClr val="F6F8FB"/>
          </a:solidFill>
          <a:ln w="9525">
            <a:solidFill>
              <a:srgbClr val="DDE4EE"/>
            </a:solidFill>
          </a:ln>
        </p:spPr>
        <p:txBody>
          <a:bodyPr wrap="square" lIns="91440" tIns="68580" rIns="91440" bIns="68580"/>
          <a:lstStyle/>
          <a:p>
            <a:pPr marL="0" indent="0"/>
            <a:r>
              <a:rPr lang="ko-KR" sz="1550" b="1">
                <a:solidFill>
                  <a:srgbClr val="172033"/>
                </a:solidFill>
                <a:latin typeface="맑은 고딕"/>
                <a:ea typeface="맑은 고딕"/>
              </a:rPr>
              <a:t>확장 가능</a:t>
            </a:r>
          </a:p>
        </p:txBody>
      </p:sp>
      <p:sp>
        <p:nvSpPr>
          <p:cNvPr id="25" name="shape 25"/>
          <p:cNvSpPr txBox="1"/>
          <p:nvPr/>
        </p:nvSpPr>
        <p:spPr>
          <a:xfrm>
            <a:off x="8174736" y="2926080"/>
            <a:ext cx="3429000" cy="1581912"/>
          </a:xfrm>
          <a:prstGeom prst="rect">
            <a:avLst/>
          </a:prstGeom>
          <a:noFill/>
          <a:ln>
            <a:noFill/>
          </a:ln>
        </p:spPr>
        <p:txBody>
          <a:bodyPr wrap="square" lIns="91440" tIns="68580" rIns="91440" bIns="68580"/>
          <a:lstStyle/>
          <a:p>
            <a:pPr marL="285750" indent="-171450">
              <a:buChar char="•"/>
            </a:pPr>
            <a:r>
              <a:rPr lang="ko-KR" sz="1200">
                <a:solidFill>
                  <a:srgbClr val="39465E"/>
                </a:solidFill>
                <a:latin typeface="맑은 고딕"/>
                <a:ea typeface="맑은 고딕"/>
              </a:rPr>
              <a:t>의사별 슬롯</a:t>
            </a:r>
          </a:p>
          <a:p>
            <a:pPr marL="285750" indent="-171450">
              <a:buChar char="•"/>
            </a:pPr>
            <a:r>
              <a:rPr lang="ko-KR" sz="1200">
                <a:solidFill>
                  <a:srgbClr val="39465E"/>
                </a:solidFill>
                <a:latin typeface="맑은 고딕"/>
                <a:ea typeface="맑은 고딕"/>
              </a:rPr>
              <a:t>재진 리마인드</a:t>
            </a:r>
          </a:p>
          <a:p>
            <a:pPr marL="285750" indent="-171450">
              <a:buChar char="•"/>
            </a:pPr>
            <a:r>
              <a:rPr lang="ko-KR" sz="1200">
                <a:solidFill>
                  <a:srgbClr val="39465E"/>
                </a:solidFill>
                <a:latin typeface="맑은 고딕"/>
                <a:ea typeface="맑은 고딕"/>
              </a:rPr>
              <a:t>수술/검진 예약 분리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68580" rIns="91440" bIns="68580"/>
          <a:lstStyle/>
          <a:p>
            <a:pPr marL="0" indent="0"/>
            <a:r>
              <a:rPr lang="ko-KR" sz="1800">
                <a:solidFill>
                  <a:srgbClr val="172033"/>
                </a:solidFill>
                <a:latin typeface="맑은 고딕"/>
                <a:ea typeface="맑은 고딕"/>
              </a:rPr>
              <a:t/>
            </a:r>
          </a:p>
        </p:txBody>
      </p:sp>
      <p:sp>
        <p:nvSpPr>
          <p:cNvPr id="3" name="shape 3"/>
          <p:cNvSpPr txBox="1"/>
          <p:nvPr/>
        </p:nvSpPr>
        <p:spPr>
          <a:xfrm>
            <a:off x="502920" y="347472"/>
            <a:ext cx="6766560" cy="457200"/>
          </a:xfrm>
          <a:prstGeom prst="rect">
            <a:avLst/>
          </a:prstGeom>
          <a:noFill/>
          <a:ln>
            <a:noFill/>
          </a:ln>
        </p:spPr>
        <p:txBody>
          <a:bodyPr wrap="square" lIns="91440" tIns="68580" rIns="91440" bIns="68580"/>
          <a:lstStyle/>
          <a:p>
            <a:pPr marL="0" indent="0"/>
            <a:r>
              <a:rPr lang="ko-KR" sz="1200" b="1">
                <a:solidFill>
                  <a:srgbClr val="2368D9"/>
                </a:solidFill>
                <a:latin typeface="맑은 고딕"/>
                <a:ea typeface="맑은 고딕"/>
              </a:rPr>
              <a:t>비계약 병원 대응</a:t>
            </a:r>
          </a:p>
        </p:txBody>
      </p:sp>
      <p:sp>
        <p:nvSpPr>
          <p:cNvPr id="4" name="shape 4"/>
          <p:cNvSpPr txBox="1"/>
          <p:nvPr/>
        </p:nvSpPr>
        <p:spPr>
          <a:xfrm>
            <a:off x="502920" y="804672"/>
            <a:ext cx="9966960" cy="731520"/>
          </a:xfrm>
          <a:prstGeom prst="rect">
            <a:avLst/>
          </a:prstGeom>
          <a:noFill/>
          <a:ln>
            <a:noFill/>
          </a:ln>
        </p:spPr>
        <p:txBody>
          <a:bodyPr wrap="square" lIns="91440" tIns="68580" rIns="91440" bIns="68580"/>
          <a:lstStyle/>
          <a:p>
            <a:pPr marL="0" indent="0"/>
            <a:r>
              <a:rPr lang="ko-KR" sz="2500" b="1">
                <a:solidFill>
                  <a:srgbClr val="172033"/>
                </a:solidFill>
                <a:latin typeface="맑은 고딕"/>
                <a:ea typeface="맑은 고딕"/>
              </a:rPr>
              <a:t>계약 병원이 아니어도 보호자가 기록을 보여줄 수 있어야 합니다</a:t>
            </a:r>
          </a:p>
        </p:txBody>
      </p:sp>
      <p:sp>
        <p:nvSpPr>
          <p:cNvPr id="5" name="shape 5"/>
          <p:cNvSpPr txBox="1"/>
          <p:nvPr/>
        </p:nvSpPr>
        <p:spPr>
          <a:xfrm>
            <a:off x="502920" y="1691640"/>
            <a:ext cx="11155680" cy="502920"/>
          </a:xfrm>
          <a:prstGeom prst="rect">
            <a:avLst/>
          </a:prstGeom>
          <a:noFill/>
          <a:ln>
            <a:noFill/>
          </a:ln>
        </p:spPr>
        <p:txBody>
          <a:bodyPr wrap="square" lIns="91440" tIns="68580" rIns="91440" bIns="68580"/>
          <a:lstStyle/>
          <a:p>
            <a:pPr marL="0" indent="0"/>
            <a:r>
              <a:rPr lang="ko-KR" sz="1350">
                <a:solidFill>
                  <a:srgbClr val="657286"/>
                </a:solidFill>
                <a:latin typeface="맑은 고딕"/>
                <a:ea typeface="맑은 고딕"/>
              </a:rPr>
              <a:t>이 기능이 있어야 PawDex는 병원 영업 전에도 보호자에게 실사용 가치가 생깁니다.</a:t>
            </a:r>
          </a:p>
        </p:txBody>
      </p:sp>
      <p:sp>
        <p:nvSpPr>
          <p:cNvPr id="20" name="shape 20"/>
          <p:cNvSpPr txBox="1"/>
          <p:nvPr/>
        </p:nvSpPr>
        <p:spPr>
          <a:xfrm>
            <a:off x="502920" y="2423160"/>
            <a:ext cx="3520440" cy="2148840"/>
          </a:xfrm>
          <a:prstGeom prst="roundRect">
            <a:avLst/>
          </a:prstGeom>
          <a:solidFill>
            <a:srgbClr val="F6F8FB"/>
          </a:solidFill>
          <a:ln w="9525">
            <a:solidFill>
              <a:srgbClr val="DDE4EE"/>
            </a:solidFill>
          </a:ln>
        </p:spPr>
        <p:txBody>
          <a:bodyPr wrap="square" lIns="91440" tIns="68580" rIns="91440" bIns="68580"/>
          <a:lstStyle/>
          <a:p>
            <a:pPr marL="0" indent="0"/>
            <a:r>
              <a:rPr lang="ko-KR" sz="1550" b="1">
                <a:solidFill>
                  <a:srgbClr val="172033"/>
                </a:solidFill>
                <a:latin typeface="맑은 고딕"/>
                <a:ea typeface="맑은 고딕"/>
              </a:rPr>
              <a:t>계약 병원</a:t>
            </a:r>
          </a:p>
        </p:txBody>
      </p:sp>
      <p:sp>
        <p:nvSpPr>
          <p:cNvPr id="21" name="shape 21"/>
          <p:cNvSpPr txBox="1"/>
          <p:nvPr/>
        </p:nvSpPr>
        <p:spPr>
          <a:xfrm>
            <a:off x="548640" y="2926080"/>
            <a:ext cx="3429000" cy="1581912"/>
          </a:xfrm>
          <a:prstGeom prst="rect">
            <a:avLst/>
          </a:prstGeom>
          <a:noFill/>
          <a:ln>
            <a:noFill/>
          </a:ln>
        </p:spPr>
        <p:txBody>
          <a:bodyPr wrap="square" lIns="91440" tIns="68580" rIns="91440" bIns="68580"/>
          <a:lstStyle/>
          <a:p>
            <a:pPr marL="285750" indent="-171450">
              <a:buChar char="•"/>
            </a:pPr>
            <a:r>
              <a:rPr lang="ko-KR" sz="1200">
                <a:solidFill>
                  <a:srgbClr val="39465E"/>
                </a:solidFill>
                <a:latin typeface="맑은 고딕"/>
                <a:ea typeface="맑은 고딕"/>
              </a:rPr>
              <a:t>병원 웹에서 문서 발송</a:t>
            </a:r>
          </a:p>
          <a:p>
            <a:pPr marL="285750" indent="-171450">
              <a:buChar char="•"/>
            </a:pPr>
            <a:r>
              <a:rPr lang="ko-KR" sz="1200">
                <a:solidFill>
                  <a:srgbClr val="39465E"/>
                </a:solidFill>
                <a:latin typeface="맑은 고딕"/>
                <a:ea typeface="맑은 고딕"/>
              </a:rPr>
              <a:t>보호자 동의 기록 열람</a:t>
            </a:r>
          </a:p>
          <a:p>
            <a:pPr marL="285750" indent="-171450">
              <a:buChar char="•"/>
            </a:pPr>
            <a:r>
              <a:rPr lang="ko-KR" sz="1200">
                <a:solidFill>
                  <a:srgbClr val="39465E"/>
                </a:solidFill>
                <a:latin typeface="맑은 고딕"/>
                <a:ea typeface="맑은 고딕"/>
              </a:rPr>
              <a:t>예약/담당 수의사 관리</a:t>
            </a:r>
          </a:p>
        </p:txBody>
      </p:sp>
      <p:sp>
        <p:nvSpPr>
          <p:cNvPr id="22" name="shape 22"/>
          <p:cNvSpPr txBox="1"/>
          <p:nvPr/>
        </p:nvSpPr>
        <p:spPr>
          <a:xfrm>
            <a:off x="4315968" y="2423160"/>
            <a:ext cx="3520440" cy="2148840"/>
          </a:xfrm>
          <a:prstGeom prst="roundRect">
            <a:avLst/>
          </a:prstGeom>
          <a:solidFill>
            <a:srgbClr val="F6F8FB"/>
          </a:solidFill>
          <a:ln w="9525">
            <a:solidFill>
              <a:srgbClr val="DDE4EE"/>
            </a:solidFill>
          </a:ln>
        </p:spPr>
        <p:txBody>
          <a:bodyPr wrap="square" lIns="91440" tIns="68580" rIns="91440" bIns="68580"/>
          <a:lstStyle/>
          <a:p>
            <a:pPr marL="0" indent="0"/>
            <a:r>
              <a:rPr lang="ko-KR" sz="1550" b="1">
                <a:solidFill>
                  <a:srgbClr val="172033"/>
                </a:solidFill>
                <a:latin typeface="맑은 고딕"/>
                <a:ea typeface="맑은 고딕"/>
              </a:rPr>
              <a:t>비계약 병원</a:t>
            </a:r>
          </a:p>
        </p:txBody>
      </p:sp>
      <p:sp>
        <p:nvSpPr>
          <p:cNvPr id="23" name="shape 23"/>
          <p:cNvSpPr txBox="1"/>
          <p:nvPr/>
        </p:nvSpPr>
        <p:spPr>
          <a:xfrm>
            <a:off x="4361688" y="2926080"/>
            <a:ext cx="3429000" cy="1581912"/>
          </a:xfrm>
          <a:prstGeom prst="rect">
            <a:avLst/>
          </a:prstGeom>
          <a:noFill/>
          <a:ln>
            <a:noFill/>
          </a:ln>
        </p:spPr>
        <p:txBody>
          <a:bodyPr wrap="square" lIns="91440" tIns="68580" rIns="91440" bIns="68580"/>
          <a:lstStyle/>
          <a:p>
            <a:pPr marL="285750" indent="-171450">
              <a:buChar char="•"/>
            </a:pPr>
            <a:r>
              <a:rPr lang="ko-KR" sz="1200">
                <a:solidFill>
                  <a:srgbClr val="39465E"/>
                </a:solidFill>
                <a:latin typeface="맑은 고딕"/>
                <a:ea typeface="맑은 고딕"/>
              </a:rPr>
              <a:t>보호자 QR/임시 링크</a:t>
            </a:r>
          </a:p>
          <a:p>
            <a:pPr marL="285750" indent="-171450">
              <a:buChar char="•"/>
            </a:pPr>
            <a:r>
              <a:rPr lang="ko-KR" sz="1200">
                <a:solidFill>
                  <a:srgbClr val="39465E"/>
                </a:solidFill>
                <a:latin typeface="맑은 고딕"/>
                <a:ea typeface="맑은 고딕"/>
              </a:rPr>
              <a:t>PDF 내보내기</a:t>
            </a:r>
          </a:p>
          <a:p>
            <a:pPr marL="285750" indent="-171450">
              <a:buChar char="•"/>
            </a:pPr>
            <a:r>
              <a:rPr lang="ko-KR" sz="1200">
                <a:solidFill>
                  <a:srgbClr val="39465E"/>
                </a:solidFill>
                <a:latin typeface="맑은 고딕"/>
                <a:ea typeface="맑은 고딕"/>
              </a:rPr>
              <a:t>최근 기록만 제한 공유</a:t>
            </a:r>
          </a:p>
        </p:txBody>
      </p:sp>
      <p:sp>
        <p:nvSpPr>
          <p:cNvPr id="24" name="shape 24"/>
          <p:cNvSpPr txBox="1"/>
          <p:nvPr/>
        </p:nvSpPr>
        <p:spPr>
          <a:xfrm>
            <a:off x="8129016" y="2423160"/>
            <a:ext cx="3520440" cy="2148840"/>
          </a:xfrm>
          <a:prstGeom prst="roundRect">
            <a:avLst/>
          </a:prstGeom>
          <a:solidFill>
            <a:srgbClr val="F6F8FB"/>
          </a:solidFill>
          <a:ln w="9525">
            <a:solidFill>
              <a:srgbClr val="DDE4EE"/>
            </a:solidFill>
          </a:ln>
        </p:spPr>
        <p:txBody>
          <a:bodyPr wrap="square" lIns="91440" tIns="68580" rIns="91440" bIns="68580"/>
          <a:lstStyle/>
          <a:p>
            <a:pPr marL="0" indent="0"/>
            <a:r>
              <a:rPr lang="ko-KR" sz="1550" b="1">
                <a:solidFill>
                  <a:srgbClr val="172033"/>
                </a:solidFill>
                <a:latin typeface="맑은 고딕"/>
                <a:ea typeface="맑은 고딕"/>
              </a:rPr>
              <a:t>보안 원칙</a:t>
            </a:r>
          </a:p>
        </p:txBody>
      </p:sp>
      <p:sp>
        <p:nvSpPr>
          <p:cNvPr id="25" name="shape 25"/>
          <p:cNvSpPr txBox="1"/>
          <p:nvPr/>
        </p:nvSpPr>
        <p:spPr>
          <a:xfrm>
            <a:off x="8174736" y="2926080"/>
            <a:ext cx="3429000" cy="1581912"/>
          </a:xfrm>
          <a:prstGeom prst="rect">
            <a:avLst/>
          </a:prstGeom>
          <a:noFill/>
          <a:ln>
            <a:noFill/>
          </a:ln>
        </p:spPr>
        <p:txBody>
          <a:bodyPr wrap="square" lIns="91440" tIns="68580" rIns="91440" bIns="68580"/>
          <a:lstStyle/>
          <a:p>
            <a:pPr marL="285750" indent="-171450">
              <a:buChar char="•"/>
            </a:pPr>
            <a:r>
              <a:rPr lang="ko-KR" sz="1200">
                <a:solidFill>
                  <a:srgbClr val="39465E"/>
                </a:solidFill>
                <a:latin typeface="맑은 고딕"/>
                <a:ea typeface="맑은 고딕"/>
              </a:rPr>
              <a:t>24시간 만료</a:t>
            </a:r>
          </a:p>
          <a:p>
            <a:pPr marL="285750" indent="-171450">
              <a:buChar char="•"/>
            </a:pPr>
            <a:r>
              <a:rPr lang="ko-KR" sz="1200">
                <a:solidFill>
                  <a:srgbClr val="39465E"/>
                </a:solidFill>
                <a:latin typeface="맑은 고딕"/>
                <a:ea typeface="맑은 고딕"/>
              </a:rPr>
              <a:t>공유 철회</a:t>
            </a:r>
          </a:p>
          <a:p>
            <a:pPr marL="285750" indent="-171450">
              <a:buChar char="•"/>
            </a:pPr>
            <a:r>
              <a:rPr lang="ko-KR" sz="1200">
                <a:solidFill>
                  <a:srgbClr val="39465E"/>
                </a:solidFill>
                <a:latin typeface="맑은 고딕"/>
                <a:ea typeface="맑은 고딕"/>
              </a:rPr>
              <a:t>열람 로그</a:t>
            </a:r>
          </a:p>
          <a:p>
            <a:pPr marL="285750" indent="-171450">
              <a:buChar char="•"/>
            </a:pPr>
            <a:r>
              <a:rPr lang="ko-KR" sz="1200">
                <a:solidFill>
                  <a:srgbClr val="39465E"/>
                </a:solidFill>
                <a:latin typeface="맑은 고딕"/>
                <a:ea typeface="맑은 고딕"/>
              </a:rPr>
              <a:t>보호자 동의 기반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68580" rIns="91440" bIns="68580"/>
          <a:lstStyle/>
          <a:p>
            <a:pPr marL="0" indent="0"/>
            <a:r>
              <a:rPr lang="ko-KR" sz="1800">
                <a:solidFill>
                  <a:srgbClr val="172033"/>
                </a:solidFill>
                <a:latin typeface="맑은 고딕"/>
                <a:ea typeface="맑은 고딕"/>
              </a:rPr>
              <a:t/>
            </a:r>
          </a:p>
        </p:txBody>
      </p:sp>
      <p:sp>
        <p:nvSpPr>
          <p:cNvPr id="3" name="shape 3"/>
          <p:cNvSpPr txBox="1"/>
          <p:nvPr/>
        </p:nvSpPr>
        <p:spPr>
          <a:xfrm>
            <a:off x="502920" y="347472"/>
            <a:ext cx="6766560" cy="457200"/>
          </a:xfrm>
          <a:prstGeom prst="rect">
            <a:avLst/>
          </a:prstGeom>
          <a:noFill/>
          <a:ln>
            <a:noFill/>
          </a:ln>
        </p:spPr>
        <p:txBody>
          <a:bodyPr wrap="square" lIns="91440" tIns="68580" rIns="91440" bIns="68580"/>
          <a:lstStyle/>
          <a:p>
            <a:pPr marL="0" indent="0"/>
            <a:r>
              <a:rPr lang="ko-KR" sz="1200" b="1">
                <a:solidFill>
                  <a:srgbClr val="2368D9"/>
                </a:solidFill>
                <a:latin typeface="맑은 고딕"/>
                <a:ea typeface="맑은 고딕"/>
              </a:rPr>
              <a:t>병원이 얻는 가치</a:t>
            </a:r>
          </a:p>
        </p:txBody>
      </p:sp>
      <p:sp>
        <p:nvSpPr>
          <p:cNvPr id="4" name="shape 4"/>
          <p:cNvSpPr txBox="1"/>
          <p:nvPr/>
        </p:nvSpPr>
        <p:spPr>
          <a:xfrm>
            <a:off x="502920" y="804672"/>
            <a:ext cx="9966960" cy="731520"/>
          </a:xfrm>
          <a:prstGeom prst="rect">
            <a:avLst/>
          </a:prstGeom>
          <a:noFill/>
          <a:ln>
            <a:noFill/>
          </a:ln>
        </p:spPr>
        <p:txBody>
          <a:bodyPr wrap="square" lIns="91440" tIns="68580" rIns="91440" bIns="68580"/>
          <a:lstStyle/>
          <a:p>
            <a:pPr marL="0" indent="0"/>
            <a:r>
              <a:rPr lang="ko-KR" sz="2500" b="1">
                <a:solidFill>
                  <a:srgbClr val="172033"/>
                </a:solidFill>
                <a:latin typeface="맑은 고딕"/>
                <a:ea typeface="맑은 고딕"/>
              </a:rPr>
              <a:t>업무 부담은 줄이고, 보호자 접점은 늘립니다</a:t>
            </a:r>
          </a:p>
        </p:txBody>
      </p:sp>
      <p:sp>
        <p:nvSpPr>
          <p:cNvPr id="5" name="shape 5"/>
          <p:cNvSpPr txBox="1"/>
          <p:nvPr/>
        </p:nvSpPr>
        <p:spPr>
          <a:xfrm>
            <a:off x="502920" y="1691640"/>
            <a:ext cx="11155680" cy="502920"/>
          </a:xfrm>
          <a:prstGeom prst="rect">
            <a:avLst/>
          </a:prstGeom>
          <a:noFill/>
          <a:ln>
            <a:noFill/>
          </a:ln>
        </p:spPr>
        <p:txBody>
          <a:bodyPr wrap="square" lIns="91440" tIns="68580" rIns="91440" bIns="68580"/>
          <a:lstStyle/>
          <a:p>
            <a:pPr marL="0" indent="0"/>
            <a:r>
              <a:rPr lang="ko-KR" sz="1350">
                <a:solidFill>
                  <a:srgbClr val="657286"/>
                </a:solidFill>
                <a:latin typeface="맑은 고딕"/>
                <a:ea typeface="맑은 고딕"/>
              </a:rPr>
              <a:t>병원 입장에서는 문서 발송/예약/홍보가 하나의 채널로 정리됩니다.</a:t>
            </a:r>
          </a:p>
        </p:txBody>
      </p:sp>
      <p:sp>
        <p:nvSpPr>
          <p:cNvPr id="20" name="shape 20"/>
          <p:cNvSpPr txBox="1"/>
          <p:nvPr/>
        </p:nvSpPr>
        <p:spPr>
          <a:xfrm>
            <a:off x="502920" y="2423160"/>
            <a:ext cx="3520440" cy="2148840"/>
          </a:xfrm>
          <a:prstGeom prst="roundRect">
            <a:avLst/>
          </a:prstGeom>
          <a:solidFill>
            <a:srgbClr val="F6F8FB"/>
          </a:solidFill>
          <a:ln w="9525">
            <a:solidFill>
              <a:srgbClr val="DDE4EE"/>
            </a:solidFill>
          </a:ln>
        </p:spPr>
        <p:txBody>
          <a:bodyPr wrap="square" lIns="91440" tIns="68580" rIns="91440" bIns="68580"/>
          <a:lstStyle/>
          <a:p>
            <a:pPr marL="0" indent="0"/>
            <a:r>
              <a:rPr lang="ko-KR" sz="1550" b="1">
                <a:solidFill>
                  <a:srgbClr val="172033"/>
                </a:solidFill>
                <a:latin typeface="맑은 고딕"/>
                <a:ea typeface="맑은 고딕"/>
              </a:rPr>
              <a:t>CS 감소</a:t>
            </a:r>
          </a:p>
        </p:txBody>
      </p:sp>
      <p:sp>
        <p:nvSpPr>
          <p:cNvPr id="21" name="shape 21"/>
          <p:cNvSpPr txBox="1"/>
          <p:nvPr/>
        </p:nvSpPr>
        <p:spPr>
          <a:xfrm>
            <a:off x="548640" y="2926080"/>
            <a:ext cx="3429000" cy="1581912"/>
          </a:xfrm>
          <a:prstGeom prst="rect">
            <a:avLst/>
          </a:prstGeom>
          <a:noFill/>
          <a:ln>
            <a:noFill/>
          </a:ln>
        </p:spPr>
        <p:txBody>
          <a:bodyPr wrap="square" lIns="91440" tIns="68580" rIns="91440" bIns="68580"/>
          <a:lstStyle/>
          <a:p>
            <a:pPr marL="285750" indent="-171450">
              <a:buChar char="•"/>
            </a:pPr>
            <a:r>
              <a:rPr lang="ko-KR" sz="1200">
                <a:solidFill>
                  <a:srgbClr val="39465E"/>
                </a:solidFill>
                <a:latin typeface="맑은 고딕"/>
                <a:ea typeface="맑은 고딕"/>
              </a:rPr>
              <a:t>검사결과 재발송 감소</a:t>
            </a:r>
          </a:p>
          <a:p>
            <a:pPr marL="285750" indent="-171450">
              <a:buChar char="•"/>
            </a:pPr>
            <a:r>
              <a:rPr lang="ko-KR" sz="1200">
                <a:solidFill>
                  <a:srgbClr val="39465E"/>
                </a:solidFill>
                <a:latin typeface="맑은 고딕"/>
                <a:ea typeface="맑은 고딕"/>
              </a:rPr>
              <a:t>주의사항 반복 설명 감소</a:t>
            </a:r>
          </a:p>
          <a:p>
            <a:pPr marL="285750" indent="-171450">
              <a:buChar char="•"/>
            </a:pPr>
            <a:r>
              <a:rPr lang="ko-KR" sz="1200">
                <a:solidFill>
                  <a:srgbClr val="39465E"/>
                </a:solidFill>
                <a:latin typeface="맑은 고딕"/>
                <a:ea typeface="맑은 고딕"/>
              </a:rPr>
              <a:t>예약 목적 사전 파악</a:t>
            </a:r>
          </a:p>
        </p:txBody>
      </p:sp>
      <p:sp>
        <p:nvSpPr>
          <p:cNvPr id="22" name="shape 22"/>
          <p:cNvSpPr txBox="1"/>
          <p:nvPr/>
        </p:nvSpPr>
        <p:spPr>
          <a:xfrm>
            <a:off x="4315968" y="2423160"/>
            <a:ext cx="3520440" cy="2148840"/>
          </a:xfrm>
          <a:prstGeom prst="roundRect">
            <a:avLst/>
          </a:prstGeom>
          <a:solidFill>
            <a:srgbClr val="F6F8FB"/>
          </a:solidFill>
          <a:ln w="9525">
            <a:solidFill>
              <a:srgbClr val="DDE4EE"/>
            </a:solidFill>
          </a:ln>
        </p:spPr>
        <p:txBody>
          <a:bodyPr wrap="square" lIns="91440" tIns="68580" rIns="91440" bIns="68580"/>
          <a:lstStyle/>
          <a:p>
            <a:pPr marL="0" indent="0"/>
            <a:r>
              <a:rPr lang="ko-KR" sz="1550" b="1">
                <a:solidFill>
                  <a:srgbClr val="172033"/>
                </a:solidFill>
                <a:latin typeface="맑은 고딕"/>
                <a:ea typeface="맑은 고딕"/>
              </a:rPr>
              <a:t>재방문 강화</a:t>
            </a:r>
          </a:p>
        </p:txBody>
      </p:sp>
      <p:sp>
        <p:nvSpPr>
          <p:cNvPr id="23" name="shape 23"/>
          <p:cNvSpPr txBox="1"/>
          <p:nvPr/>
        </p:nvSpPr>
        <p:spPr>
          <a:xfrm>
            <a:off x="4361688" y="2926080"/>
            <a:ext cx="3429000" cy="1581912"/>
          </a:xfrm>
          <a:prstGeom prst="rect">
            <a:avLst/>
          </a:prstGeom>
          <a:noFill/>
          <a:ln>
            <a:noFill/>
          </a:ln>
        </p:spPr>
        <p:txBody>
          <a:bodyPr wrap="square" lIns="91440" tIns="68580" rIns="91440" bIns="68580"/>
          <a:lstStyle/>
          <a:p>
            <a:pPr marL="285750" indent="-171450">
              <a:buChar char="•"/>
            </a:pPr>
            <a:r>
              <a:rPr lang="ko-KR" sz="1200">
                <a:solidFill>
                  <a:srgbClr val="39465E"/>
                </a:solidFill>
                <a:latin typeface="맑은 고딕"/>
                <a:ea typeface="맑은 고딕"/>
              </a:rPr>
              <a:t>다음 예약 알림</a:t>
            </a:r>
          </a:p>
          <a:p>
            <a:pPr marL="285750" indent="-171450">
              <a:buChar char="•"/>
            </a:pPr>
            <a:r>
              <a:rPr lang="ko-KR" sz="1200">
                <a:solidFill>
                  <a:srgbClr val="39465E"/>
                </a:solidFill>
                <a:latin typeface="맑은 고딕"/>
                <a:ea typeface="맑은 고딕"/>
              </a:rPr>
              <a:t>담당 수의사 기반 관리</a:t>
            </a:r>
          </a:p>
          <a:p>
            <a:pPr marL="285750" indent="-171450">
              <a:buChar char="•"/>
            </a:pPr>
            <a:r>
              <a:rPr lang="ko-KR" sz="1200">
                <a:solidFill>
                  <a:srgbClr val="39465E"/>
                </a:solidFill>
                <a:latin typeface="맑은 고딕"/>
                <a:ea typeface="맑은 고딕"/>
              </a:rPr>
              <a:t>병원 문서함에 병원명 지속 노출</a:t>
            </a:r>
          </a:p>
        </p:txBody>
      </p:sp>
      <p:sp>
        <p:nvSpPr>
          <p:cNvPr id="24" name="shape 24"/>
          <p:cNvSpPr txBox="1"/>
          <p:nvPr/>
        </p:nvSpPr>
        <p:spPr>
          <a:xfrm>
            <a:off x="8129016" y="2423160"/>
            <a:ext cx="3520440" cy="2148840"/>
          </a:xfrm>
          <a:prstGeom prst="roundRect">
            <a:avLst/>
          </a:prstGeom>
          <a:solidFill>
            <a:srgbClr val="F6F8FB"/>
          </a:solidFill>
          <a:ln w="9525">
            <a:solidFill>
              <a:srgbClr val="DDE4EE"/>
            </a:solidFill>
          </a:ln>
        </p:spPr>
        <p:txBody>
          <a:bodyPr wrap="square" lIns="91440" tIns="68580" rIns="91440" bIns="68580"/>
          <a:lstStyle/>
          <a:p>
            <a:pPr marL="0" indent="0"/>
            <a:r>
              <a:rPr lang="ko-KR" sz="1550" b="1">
                <a:solidFill>
                  <a:srgbClr val="172033"/>
                </a:solidFill>
                <a:latin typeface="맑은 고딕"/>
                <a:ea typeface="맑은 고딕"/>
              </a:rPr>
              <a:t>홍보 효과</a:t>
            </a:r>
          </a:p>
        </p:txBody>
      </p:sp>
      <p:sp>
        <p:nvSpPr>
          <p:cNvPr id="25" name="shape 25"/>
          <p:cNvSpPr txBox="1"/>
          <p:nvPr/>
        </p:nvSpPr>
        <p:spPr>
          <a:xfrm>
            <a:off x="8174736" y="2926080"/>
            <a:ext cx="3429000" cy="1581912"/>
          </a:xfrm>
          <a:prstGeom prst="rect">
            <a:avLst/>
          </a:prstGeom>
          <a:noFill/>
          <a:ln>
            <a:noFill/>
          </a:ln>
        </p:spPr>
        <p:txBody>
          <a:bodyPr wrap="square" lIns="91440" tIns="68580" rIns="91440" bIns="68580"/>
          <a:lstStyle/>
          <a:p>
            <a:pPr marL="285750" indent="-171450">
              <a:buChar char="•"/>
            </a:pPr>
            <a:r>
              <a:rPr lang="ko-KR" sz="1200">
                <a:solidFill>
                  <a:srgbClr val="39465E"/>
                </a:solidFill>
                <a:latin typeface="맑은 고딕"/>
                <a:ea typeface="맑은 고딕"/>
              </a:rPr>
              <a:t>제휴 병원 배지</a:t>
            </a:r>
          </a:p>
          <a:p>
            <a:pPr marL="285750" indent="-171450">
              <a:buChar char="•"/>
            </a:pPr>
            <a:r>
              <a:rPr lang="ko-KR" sz="1200">
                <a:solidFill>
                  <a:srgbClr val="39465E"/>
                </a:solidFill>
                <a:latin typeface="맑은 고딕"/>
                <a:ea typeface="맑은 고딕"/>
              </a:rPr>
              <a:t>지도/리스트 우선 노출</a:t>
            </a:r>
          </a:p>
          <a:p>
            <a:pPr marL="285750" indent="-171450">
              <a:buChar char="•"/>
            </a:pPr>
            <a:r>
              <a:rPr lang="ko-KR" sz="1200">
                <a:solidFill>
                  <a:srgbClr val="39465E"/>
                </a:solidFill>
                <a:latin typeface="맑은 고딕"/>
                <a:ea typeface="맑은 고딕"/>
              </a:rPr>
              <a:t>전문 진료와 이벤트 표시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68580" rIns="91440" bIns="68580"/>
          <a:lstStyle/>
          <a:p>
            <a:pPr marL="0" indent="0"/>
            <a:r>
              <a:rPr lang="ko-KR" sz="1800">
                <a:solidFill>
                  <a:srgbClr val="172033"/>
                </a:solidFill>
                <a:latin typeface="맑은 고딕"/>
                <a:ea typeface="맑은 고딕"/>
              </a:rPr>
              <a:t/>
            </a:r>
          </a:p>
        </p:txBody>
      </p:sp>
      <p:sp>
        <p:nvSpPr>
          <p:cNvPr id="3" name="shape 3"/>
          <p:cNvSpPr txBox="1"/>
          <p:nvPr/>
        </p:nvSpPr>
        <p:spPr>
          <a:xfrm>
            <a:off x="502920" y="347472"/>
            <a:ext cx="6766560" cy="457200"/>
          </a:xfrm>
          <a:prstGeom prst="rect">
            <a:avLst/>
          </a:prstGeom>
          <a:noFill/>
          <a:ln>
            <a:noFill/>
          </a:ln>
        </p:spPr>
        <p:txBody>
          <a:bodyPr wrap="square" lIns="91440" tIns="68580" rIns="91440" bIns="68580"/>
          <a:lstStyle/>
          <a:p>
            <a:pPr marL="0" indent="0"/>
            <a:r>
              <a:rPr lang="ko-KR" sz="1200" b="1">
                <a:solidFill>
                  <a:srgbClr val="2368D9"/>
                </a:solidFill>
                <a:latin typeface="맑은 고딕"/>
                <a:ea typeface="맑은 고딕"/>
              </a:rPr>
              <a:t>도입 방식</a:t>
            </a:r>
          </a:p>
        </p:txBody>
      </p:sp>
      <p:sp>
        <p:nvSpPr>
          <p:cNvPr id="4" name="shape 4"/>
          <p:cNvSpPr txBox="1"/>
          <p:nvPr/>
        </p:nvSpPr>
        <p:spPr>
          <a:xfrm>
            <a:off x="502920" y="804672"/>
            <a:ext cx="9966960" cy="731520"/>
          </a:xfrm>
          <a:prstGeom prst="rect">
            <a:avLst/>
          </a:prstGeom>
          <a:noFill/>
          <a:ln>
            <a:noFill/>
          </a:ln>
        </p:spPr>
        <p:txBody>
          <a:bodyPr wrap="square" lIns="91440" tIns="68580" rIns="91440" bIns="68580"/>
          <a:lstStyle/>
          <a:p>
            <a:pPr marL="0" indent="0"/>
            <a:r>
              <a:rPr lang="ko-KR" sz="2500" b="1">
                <a:solidFill>
                  <a:srgbClr val="172033"/>
                </a:solidFill>
                <a:latin typeface="맑은 고딕"/>
                <a:ea typeface="맑은 고딕"/>
              </a:rPr>
              <a:t>A 병원 1곳과 깊게 검증하는 것이 가장 빠릅니다</a:t>
            </a:r>
          </a:p>
        </p:txBody>
      </p:sp>
      <p:sp>
        <p:nvSpPr>
          <p:cNvPr id="5" name="shape 5"/>
          <p:cNvSpPr txBox="1"/>
          <p:nvPr/>
        </p:nvSpPr>
        <p:spPr>
          <a:xfrm>
            <a:off x="502920" y="1691640"/>
            <a:ext cx="11155680" cy="502920"/>
          </a:xfrm>
          <a:prstGeom prst="rect">
            <a:avLst/>
          </a:prstGeom>
          <a:noFill/>
          <a:ln>
            <a:noFill/>
          </a:ln>
        </p:spPr>
        <p:txBody>
          <a:bodyPr wrap="square" lIns="91440" tIns="68580" rIns="91440" bIns="68580"/>
          <a:lstStyle/>
          <a:p>
            <a:pPr marL="0" indent="0"/>
            <a:r>
              <a:rPr lang="ko-KR" sz="1350">
                <a:solidFill>
                  <a:srgbClr val="657286"/>
                </a:solidFill>
                <a:latin typeface="맑은 고딕"/>
                <a:ea typeface="맑은 고딕"/>
              </a:rPr>
              <a:t>처음부터 여러 병원을 붙이면 교육, CS, 권한 관리가 커집니다. 한 병원에서 실제 흐름을 완성해야 합니다.</a:t>
            </a:r>
          </a:p>
        </p:txBody>
      </p:sp>
      <p:sp>
        <p:nvSpPr>
          <p:cNvPr id="20" name="shape 20"/>
          <p:cNvSpPr txBox="1"/>
          <p:nvPr/>
        </p:nvSpPr>
        <p:spPr>
          <a:xfrm>
            <a:off x="502920" y="2423160"/>
            <a:ext cx="3520440" cy="2148840"/>
          </a:xfrm>
          <a:prstGeom prst="roundRect">
            <a:avLst/>
          </a:prstGeom>
          <a:solidFill>
            <a:srgbClr val="F6F8FB"/>
          </a:solidFill>
          <a:ln w="9525">
            <a:solidFill>
              <a:srgbClr val="DDE4EE"/>
            </a:solidFill>
          </a:ln>
        </p:spPr>
        <p:txBody>
          <a:bodyPr wrap="square" lIns="91440" tIns="68580" rIns="91440" bIns="68580"/>
          <a:lstStyle/>
          <a:p>
            <a:pPr marL="0" indent="0"/>
            <a:r>
              <a:rPr lang="ko-KR" sz="1550" b="1">
                <a:solidFill>
                  <a:srgbClr val="172033"/>
                </a:solidFill>
                <a:latin typeface="맑은 고딕"/>
                <a:ea typeface="맑은 고딕"/>
              </a:rPr>
              <a:t>1단계</a:t>
            </a:r>
          </a:p>
        </p:txBody>
      </p:sp>
      <p:sp>
        <p:nvSpPr>
          <p:cNvPr id="21" name="shape 21"/>
          <p:cNvSpPr txBox="1"/>
          <p:nvPr/>
        </p:nvSpPr>
        <p:spPr>
          <a:xfrm>
            <a:off x="548640" y="2926080"/>
            <a:ext cx="3429000" cy="1581912"/>
          </a:xfrm>
          <a:prstGeom prst="rect">
            <a:avLst/>
          </a:prstGeom>
          <a:noFill/>
          <a:ln>
            <a:noFill/>
          </a:ln>
        </p:spPr>
        <p:txBody>
          <a:bodyPr wrap="square" lIns="91440" tIns="68580" rIns="91440" bIns="68580"/>
          <a:lstStyle/>
          <a:p>
            <a:pPr marL="285750" indent="-171450">
              <a:buChar char="•"/>
            </a:pPr>
            <a:r>
              <a:rPr lang="ko-KR" sz="1200">
                <a:solidFill>
                  <a:srgbClr val="39465E"/>
                </a:solidFill>
                <a:latin typeface="맑은 고딕"/>
                <a:ea typeface="맑은 고딕"/>
              </a:rPr>
              <a:t>병원 계정 생성</a:t>
            </a:r>
          </a:p>
          <a:p>
            <a:pPr marL="285750" indent="-171450">
              <a:buChar char="•"/>
            </a:pPr>
            <a:r>
              <a:rPr lang="ko-KR" sz="1200">
                <a:solidFill>
                  <a:srgbClr val="39465E"/>
                </a:solidFill>
                <a:latin typeface="맑은 고딕"/>
                <a:ea typeface="맑은 고딕"/>
              </a:rPr>
              <a:t>문서 업로드/전송</a:t>
            </a:r>
          </a:p>
          <a:p>
            <a:pPr marL="285750" indent="-171450">
              <a:buChar char="•"/>
            </a:pPr>
            <a:r>
              <a:rPr lang="ko-KR" sz="1200">
                <a:solidFill>
                  <a:srgbClr val="39465E"/>
                </a:solidFill>
                <a:latin typeface="맑은 고딕"/>
                <a:ea typeface="맑은 고딕"/>
              </a:rPr>
              <a:t>보호자 앱 수신</a:t>
            </a:r>
          </a:p>
        </p:txBody>
      </p:sp>
      <p:sp>
        <p:nvSpPr>
          <p:cNvPr id="22" name="shape 22"/>
          <p:cNvSpPr txBox="1"/>
          <p:nvPr/>
        </p:nvSpPr>
        <p:spPr>
          <a:xfrm>
            <a:off x="4315968" y="2423160"/>
            <a:ext cx="3520440" cy="2148840"/>
          </a:xfrm>
          <a:prstGeom prst="roundRect">
            <a:avLst/>
          </a:prstGeom>
          <a:solidFill>
            <a:srgbClr val="F6F8FB"/>
          </a:solidFill>
          <a:ln w="9525">
            <a:solidFill>
              <a:srgbClr val="DDE4EE"/>
            </a:solidFill>
          </a:ln>
        </p:spPr>
        <p:txBody>
          <a:bodyPr wrap="square" lIns="91440" tIns="68580" rIns="91440" bIns="68580"/>
          <a:lstStyle/>
          <a:p>
            <a:pPr marL="0" indent="0"/>
            <a:r>
              <a:rPr lang="ko-KR" sz="1550" b="1">
                <a:solidFill>
                  <a:srgbClr val="172033"/>
                </a:solidFill>
                <a:latin typeface="맑은 고딕"/>
                <a:ea typeface="맑은 고딕"/>
              </a:rPr>
              <a:t>2단계</a:t>
            </a:r>
          </a:p>
        </p:txBody>
      </p:sp>
      <p:sp>
        <p:nvSpPr>
          <p:cNvPr id="23" name="shape 23"/>
          <p:cNvSpPr txBox="1"/>
          <p:nvPr/>
        </p:nvSpPr>
        <p:spPr>
          <a:xfrm>
            <a:off x="4361688" y="2926080"/>
            <a:ext cx="3429000" cy="1581912"/>
          </a:xfrm>
          <a:prstGeom prst="rect">
            <a:avLst/>
          </a:prstGeom>
          <a:noFill/>
          <a:ln>
            <a:noFill/>
          </a:ln>
        </p:spPr>
        <p:txBody>
          <a:bodyPr wrap="square" lIns="91440" tIns="68580" rIns="91440" bIns="68580"/>
          <a:lstStyle/>
          <a:p>
            <a:pPr marL="285750" indent="-171450">
              <a:buChar char="•"/>
            </a:pPr>
            <a:r>
              <a:rPr lang="ko-KR" sz="1200">
                <a:solidFill>
                  <a:srgbClr val="39465E"/>
                </a:solidFill>
                <a:latin typeface="맑은 고딕"/>
                <a:ea typeface="맑은 고딕"/>
              </a:rPr>
              <a:t>예약 요청/확정</a:t>
            </a:r>
          </a:p>
          <a:p>
            <a:pPr marL="285750" indent="-171450">
              <a:buChar char="•"/>
            </a:pPr>
            <a:r>
              <a:rPr lang="ko-KR" sz="1200">
                <a:solidFill>
                  <a:srgbClr val="39465E"/>
                </a:solidFill>
                <a:latin typeface="맑은 고딕"/>
                <a:ea typeface="맑은 고딕"/>
              </a:rPr>
              <a:t>기록 공유 동의</a:t>
            </a:r>
          </a:p>
          <a:p>
            <a:pPr marL="285750" indent="-171450">
              <a:buChar char="•"/>
            </a:pPr>
            <a:r>
              <a:rPr lang="ko-KR" sz="1200">
                <a:solidFill>
                  <a:srgbClr val="39465E"/>
                </a:solidFill>
                <a:latin typeface="맑은 고딕"/>
                <a:ea typeface="맑은 고딕"/>
              </a:rPr>
              <a:t>문서함/기록 연결</a:t>
            </a:r>
          </a:p>
        </p:txBody>
      </p:sp>
      <p:sp>
        <p:nvSpPr>
          <p:cNvPr id="24" name="shape 24"/>
          <p:cNvSpPr txBox="1"/>
          <p:nvPr/>
        </p:nvSpPr>
        <p:spPr>
          <a:xfrm>
            <a:off x="8129016" y="2423160"/>
            <a:ext cx="3520440" cy="2148840"/>
          </a:xfrm>
          <a:prstGeom prst="roundRect">
            <a:avLst/>
          </a:prstGeom>
          <a:solidFill>
            <a:srgbClr val="F6F8FB"/>
          </a:solidFill>
          <a:ln w="9525">
            <a:solidFill>
              <a:srgbClr val="DDE4EE"/>
            </a:solidFill>
          </a:ln>
        </p:spPr>
        <p:txBody>
          <a:bodyPr wrap="square" lIns="91440" tIns="68580" rIns="91440" bIns="68580"/>
          <a:lstStyle/>
          <a:p>
            <a:pPr marL="0" indent="0"/>
            <a:r>
              <a:rPr lang="ko-KR" sz="1550" b="1">
                <a:solidFill>
                  <a:srgbClr val="172033"/>
                </a:solidFill>
                <a:latin typeface="맑은 고딕"/>
                <a:ea typeface="맑은 고딕"/>
              </a:rPr>
              <a:t>3단계</a:t>
            </a:r>
          </a:p>
        </p:txBody>
      </p:sp>
      <p:sp>
        <p:nvSpPr>
          <p:cNvPr id="25" name="shape 25"/>
          <p:cNvSpPr txBox="1"/>
          <p:nvPr/>
        </p:nvSpPr>
        <p:spPr>
          <a:xfrm>
            <a:off x="8174736" y="2926080"/>
            <a:ext cx="3429000" cy="1581912"/>
          </a:xfrm>
          <a:prstGeom prst="rect">
            <a:avLst/>
          </a:prstGeom>
          <a:noFill/>
          <a:ln>
            <a:noFill/>
          </a:ln>
        </p:spPr>
        <p:txBody>
          <a:bodyPr wrap="square" lIns="91440" tIns="68580" rIns="91440" bIns="68580"/>
          <a:lstStyle/>
          <a:p>
            <a:pPr marL="285750" indent="-171450">
              <a:buChar char="•"/>
            </a:pPr>
            <a:r>
              <a:rPr lang="ko-KR" sz="1200">
                <a:solidFill>
                  <a:srgbClr val="39465E"/>
                </a:solidFill>
                <a:latin typeface="맑은 고딕"/>
                <a:ea typeface="맑은 고딕"/>
              </a:rPr>
              <a:t>담당 수의사</a:t>
            </a:r>
          </a:p>
          <a:p>
            <a:pPr marL="285750" indent="-171450">
              <a:buChar char="•"/>
            </a:pPr>
            <a:r>
              <a:rPr lang="ko-KR" sz="1200">
                <a:solidFill>
                  <a:srgbClr val="39465E"/>
                </a:solidFill>
                <a:latin typeface="맑은 고딕"/>
                <a:ea typeface="맑은 고딕"/>
              </a:rPr>
              <a:t>리마인드</a:t>
            </a:r>
          </a:p>
          <a:p>
            <a:pPr marL="285750" indent="-171450">
              <a:buChar char="•"/>
            </a:pPr>
            <a:r>
              <a:rPr lang="ko-KR" sz="1200">
                <a:solidFill>
                  <a:srgbClr val="39465E"/>
                </a:solidFill>
                <a:latin typeface="맑은 고딕"/>
                <a:ea typeface="맑은 고딕"/>
              </a:rPr>
              <a:t>병원 소개/홍보 영역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68580" rIns="91440" bIns="68580"/>
          <a:lstStyle/>
          <a:p>
            <a:pPr marL="0" indent="0"/>
            <a:r>
              <a:rPr lang="ko-KR" sz="1800">
                <a:solidFill>
                  <a:srgbClr val="172033"/>
                </a:solidFill>
                <a:latin typeface="맑은 고딕"/>
                <a:ea typeface="맑은 고딕"/>
              </a:rPr>
              <a:t/>
            </a:r>
          </a:p>
        </p:txBody>
      </p:sp>
      <p:sp>
        <p:nvSpPr>
          <p:cNvPr id="3" name="shape 3"/>
          <p:cNvSpPr txBox="1"/>
          <p:nvPr/>
        </p:nvSpPr>
        <p:spPr>
          <a:xfrm>
            <a:off x="502920" y="347472"/>
            <a:ext cx="6766560" cy="457200"/>
          </a:xfrm>
          <a:prstGeom prst="rect">
            <a:avLst/>
          </a:prstGeom>
          <a:noFill/>
          <a:ln>
            <a:noFill/>
          </a:ln>
        </p:spPr>
        <p:txBody>
          <a:bodyPr wrap="square" lIns="91440" tIns="68580" rIns="91440" bIns="68580"/>
          <a:lstStyle/>
          <a:p>
            <a:pPr marL="0" indent="0"/>
            <a:r>
              <a:rPr lang="ko-KR" sz="1200" b="1">
                <a:solidFill>
                  <a:srgbClr val="2368D9"/>
                </a:solidFill>
                <a:latin typeface="맑은 고딕"/>
                <a:ea typeface="맑은 고딕"/>
              </a:rPr>
              <a:t>제안</a:t>
            </a:r>
          </a:p>
        </p:txBody>
      </p:sp>
      <p:sp>
        <p:nvSpPr>
          <p:cNvPr id="4" name="shape 4"/>
          <p:cNvSpPr txBox="1"/>
          <p:nvPr/>
        </p:nvSpPr>
        <p:spPr>
          <a:xfrm>
            <a:off x="502920" y="804672"/>
            <a:ext cx="9966960" cy="731520"/>
          </a:xfrm>
          <a:prstGeom prst="rect">
            <a:avLst/>
          </a:prstGeom>
          <a:noFill/>
          <a:ln>
            <a:noFill/>
          </a:ln>
        </p:spPr>
        <p:txBody>
          <a:bodyPr wrap="square" lIns="91440" tIns="68580" rIns="91440" bIns="68580"/>
          <a:lstStyle/>
          <a:p>
            <a:pPr marL="0" indent="0"/>
            <a:r>
              <a:rPr lang="ko-KR" sz="2500" b="1">
                <a:solidFill>
                  <a:srgbClr val="172033"/>
                </a:solidFill>
                <a:latin typeface="맑은 고딕"/>
                <a:ea typeface="맑은 고딕"/>
              </a:rPr>
              <a:t>병원 MVP에서 확인할 KPI</a:t>
            </a:r>
          </a:p>
        </p:txBody>
      </p:sp>
      <p:sp>
        <p:nvSpPr>
          <p:cNvPr id="5" name="shape 5"/>
          <p:cNvSpPr txBox="1"/>
          <p:nvPr/>
        </p:nvSpPr>
        <p:spPr>
          <a:xfrm>
            <a:off x="502920" y="1691640"/>
            <a:ext cx="11155680" cy="502920"/>
          </a:xfrm>
          <a:prstGeom prst="rect">
            <a:avLst/>
          </a:prstGeom>
          <a:noFill/>
          <a:ln>
            <a:noFill/>
          </a:ln>
        </p:spPr>
        <p:txBody>
          <a:bodyPr wrap="square" lIns="91440" tIns="68580" rIns="91440" bIns="68580"/>
          <a:lstStyle/>
          <a:p>
            <a:pPr marL="0" indent="0"/>
            <a:r>
              <a:rPr lang="ko-KR" sz="1350">
                <a:solidFill>
                  <a:srgbClr val="657286"/>
                </a:solidFill>
                <a:latin typeface="맑은 고딕"/>
                <a:ea typeface="맑은 고딕"/>
              </a:rPr>
              <a:t>도입 여부는 기능 수보다 병원 업무가 실제로 줄어드는지로 판단해야 합니다.</a:t>
            </a:r>
          </a:p>
        </p:txBody>
      </p:sp>
      <p:sp>
        <p:nvSpPr>
          <p:cNvPr id="20" name="shape 20"/>
          <p:cNvSpPr txBox="1"/>
          <p:nvPr/>
        </p:nvSpPr>
        <p:spPr>
          <a:xfrm>
            <a:off x="502920" y="2423160"/>
            <a:ext cx="3520440" cy="2148840"/>
          </a:xfrm>
          <a:prstGeom prst="roundRect">
            <a:avLst/>
          </a:prstGeom>
          <a:solidFill>
            <a:srgbClr val="F6F8FB"/>
          </a:solidFill>
          <a:ln w="9525">
            <a:solidFill>
              <a:srgbClr val="DDE4EE"/>
            </a:solidFill>
          </a:ln>
        </p:spPr>
        <p:txBody>
          <a:bodyPr wrap="square" lIns="91440" tIns="68580" rIns="91440" bIns="68580"/>
          <a:lstStyle/>
          <a:p>
            <a:pPr marL="0" indent="0"/>
            <a:r>
              <a:rPr lang="ko-KR" sz="1550" b="1">
                <a:solidFill>
                  <a:srgbClr val="172033"/>
                </a:solidFill>
                <a:latin typeface="맑은 고딕"/>
                <a:ea typeface="맑은 고딕"/>
              </a:rPr>
              <a:t>문서</a:t>
            </a:r>
          </a:p>
        </p:txBody>
      </p:sp>
      <p:sp>
        <p:nvSpPr>
          <p:cNvPr id="21" name="shape 21"/>
          <p:cNvSpPr txBox="1"/>
          <p:nvPr/>
        </p:nvSpPr>
        <p:spPr>
          <a:xfrm>
            <a:off x="548640" y="2926080"/>
            <a:ext cx="3429000" cy="1581912"/>
          </a:xfrm>
          <a:prstGeom prst="rect">
            <a:avLst/>
          </a:prstGeom>
          <a:noFill/>
          <a:ln>
            <a:noFill/>
          </a:ln>
        </p:spPr>
        <p:txBody>
          <a:bodyPr wrap="square" lIns="91440" tIns="68580" rIns="91440" bIns="68580"/>
          <a:lstStyle/>
          <a:p>
            <a:pPr marL="285750" indent="-171450">
              <a:buChar char="•"/>
            </a:pPr>
            <a:r>
              <a:rPr lang="ko-KR" sz="1200">
                <a:solidFill>
                  <a:srgbClr val="39465E"/>
                </a:solidFill>
                <a:latin typeface="맑은 고딕"/>
                <a:ea typeface="맑은 고딕"/>
              </a:rPr>
              <a:t>앱 발송 건수</a:t>
            </a:r>
          </a:p>
          <a:p>
            <a:pPr marL="285750" indent="-171450">
              <a:buChar char="•"/>
            </a:pPr>
            <a:r>
              <a:rPr lang="ko-KR" sz="1200">
                <a:solidFill>
                  <a:srgbClr val="39465E"/>
                </a:solidFill>
                <a:latin typeface="맑은 고딕"/>
                <a:ea typeface="맑은 고딕"/>
              </a:rPr>
              <a:t>보호자 열람률</a:t>
            </a:r>
          </a:p>
          <a:p>
            <a:pPr marL="285750" indent="-171450">
              <a:buChar char="•"/>
            </a:pPr>
            <a:r>
              <a:rPr lang="ko-KR" sz="1200">
                <a:solidFill>
                  <a:srgbClr val="39465E"/>
                </a:solidFill>
                <a:latin typeface="맑은 고딕"/>
                <a:ea typeface="맑은 고딕"/>
              </a:rPr>
              <a:t>재발송 문의 감소</a:t>
            </a:r>
          </a:p>
        </p:txBody>
      </p:sp>
      <p:sp>
        <p:nvSpPr>
          <p:cNvPr id="22" name="shape 22"/>
          <p:cNvSpPr txBox="1"/>
          <p:nvPr/>
        </p:nvSpPr>
        <p:spPr>
          <a:xfrm>
            <a:off x="4315968" y="2423160"/>
            <a:ext cx="3520440" cy="2148840"/>
          </a:xfrm>
          <a:prstGeom prst="roundRect">
            <a:avLst/>
          </a:prstGeom>
          <a:solidFill>
            <a:srgbClr val="F6F8FB"/>
          </a:solidFill>
          <a:ln w="9525">
            <a:solidFill>
              <a:srgbClr val="DDE4EE"/>
            </a:solidFill>
          </a:ln>
        </p:spPr>
        <p:txBody>
          <a:bodyPr wrap="square" lIns="91440" tIns="68580" rIns="91440" bIns="68580"/>
          <a:lstStyle/>
          <a:p>
            <a:pPr marL="0" indent="0"/>
            <a:r>
              <a:rPr lang="ko-KR" sz="1550" b="1">
                <a:solidFill>
                  <a:srgbClr val="172033"/>
                </a:solidFill>
                <a:latin typeface="맑은 고딕"/>
                <a:ea typeface="맑은 고딕"/>
              </a:rPr>
              <a:t>예약</a:t>
            </a:r>
          </a:p>
        </p:txBody>
      </p:sp>
      <p:sp>
        <p:nvSpPr>
          <p:cNvPr id="23" name="shape 23"/>
          <p:cNvSpPr txBox="1"/>
          <p:nvPr/>
        </p:nvSpPr>
        <p:spPr>
          <a:xfrm>
            <a:off x="4361688" y="2926080"/>
            <a:ext cx="3429000" cy="1581912"/>
          </a:xfrm>
          <a:prstGeom prst="rect">
            <a:avLst/>
          </a:prstGeom>
          <a:noFill/>
          <a:ln>
            <a:noFill/>
          </a:ln>
        </p:spPr>
        <p:txBody>
          <a:bodyPr wrap="square" lIns="91440" tIns="68580" rIns="91440" bIns="68580"/>
          <a:lstStyle/>
          <a:p>
            <a:pPr marL="285750" indent="-171450">
              <a:buChar char="•"/>
            </a:pPr>
            <a:r>
              <a:rPr lang="ko-KR" sz="1200">
                <a:solidFill>
                  <a:srgbClr val="39465E"/>
                </a:solidFill>
                <a:latin typeface="맑은 고딕"/>
                <a:ea typeface="맑은 고딕"/>
              </a:rPr>
              <a:t>예약 요청 건수</a:t>
            </a:r>
          </a:p>
          <a:p>
            <a:pPr marL="285750" indent="-171450">
              <a:buChar char="•"/>
            </a:pPr>
            <a:r>
              <a:rPr lang="ko-KR" sz="1200">
                <a:solidFill>
                  <a:srgbClr val="39465E"/>
                </a:solidFill>
                <a:latin typeface="맑은 고딕"/>
                <a:ea typeface="맑은 고딕"/>
              </a:rPr>
              <a:t>확정까지 걸린 시간</a:t>
            </a:r>
          </a:p>
          <a:p>
            <a:pPr marL="285750" indent="-171450">
              <a:buChar char="•"/>
            </a:pPr>
            <a:r>
              <a:rPr lang="ko-KR" sz="1200">
                <a:solidFill>
                  <a:srgbClr val="39465E"/>
                </a:solidFill>
                <a:latin typeface="맑은 고딕"/>
                <a:ea typeface="맑은 고딕"/>
              </a:rPr>
              <a:t>노쇼/변경률</a:t>
            </a:r>
          </a:p>
        </p:txBody>
      </p:sp>
      <p:sp>
        <p:nvSpPr>
          <p:cNvPr id="24" name="shape 24"/>
          <p:cNvSpPr txBox="1"/>
          <p:nvPr/>
        </p:nvSpPr>
        <p:spPr>
          <a:xfrm>
            <a:off x="8129016" y="2423160"/>
            <a:ext cx="3520440" cy="2148840"/>
          </a:xfrm>
          <a:prstGeom prst="roundRect">
            <a:avLst/>
          </a:prstGeom>
          <a:solidFill>
            <a:srgbClr val="F6F8FB"/>
          </a:solidFill>
          <a:ln w="9525">
            <a:solidFill>
              <a:srgbClr val="DDE4EE"/>
            </a:solidFill>
          </a:ln>
        </p:spPr>
        <p:txBody>
          <a:bodyPr wrap="square" lIns="91440" tIns="68580" rIns="91440" bIns="68580"/>
          <a:lstStyle/>
          <a:p>
            <a:pPr marL="0" indent="0"/>
            <a:r>
              <a:rPr lang="ko-KR" sz="1550" b="1">
                <a:solidFill>
                  <a:srgbClr val="172033"/>
                </a:solidFill>
                <a:latin typeface="맑은 고딕"/>
                <a:ea typeface="맑은 고딕"/>
              </a:rPr>
              <a:t>보호자</a:t>
            </a:r>
          </a:p>
        </p:txBody>
      </p:sp>
      <p:sp>
        <p:nvSpPr>
          <p:cNvPr id="25" name="shape 25"/>
          <p:cNvSpPr txBox="1"/>
          <p:nvPr/>
        </p:nvSpPr>
        <p:spPr>
          <a:xfrm>
            <a:off x="8174736" y="2926080"/>
            <a:ext cx="3429000" cy="1581912"/>
          </a:xfrm>
          <a:prstGeom prst="rect">
            <a:avLst/>
          </a:prstGeom>
          <a:noFill/>
          <a:ln>
            <a:noFill/>
          </a:ln>
        </p:spPr>
        <p:txBody>
          <a:bodyPr wrap="square" lIns="91440" tIns="68580" rIns="91440" bIns="68580"/>
          <a:lstStyle/>
          <a:p>
            <a:pPr marL="285750" indent="-171450">
              <a:buChar char="•"/>
            </a:pPr>
            <a:r>
              <a:rPr lang="ko-KR" sz="1200">
                <a:solidFill>
                  <a:srgbClr val="39465E"/>
                </a:solidFill>
                <a:latin typeface="맑은 고딕"/>
                <a:ea typeface="맑은 고딕"/>
              </a:rPr>
              <a:t>문서함 재방문</a:t>
            </a:r>
          </a:p>
          <a:p>
            <a:pPr marL="285750" indent="-171450">
              <a:buChar char="•"/>
            </a:pPr>
            <a:r>
              <a:rPr lang="ko-KR" sz="1200">
                <a:solidFill>
                  <a:srgbClr val="39465E"/>
                </a:solidFill>
                <a:latin typeface="맑은 고딕"/>
                <a:ea typeface="맑은 고딕"/>
              </a:rPr>
              <a:t>기록 공유 사용률</a:t>
            </a:r>
          </a:p>
          <a:p>
            <a:pPr marL="285750" indent="-171450">
              <a:buChar char="•"/>
            </a:pPr>
            <a:r>
              <a:rPr lang="ko-KR" sz="1200">
                <a:solidFill>
                  <a:srgbClr val="39465E"/>
                </a:solidFill>
                <a:latin typeface="맑은 고딕"/>
                <a:ea typeface="맑은 고딕"/>
              </a:rPr>
              <a:t>병원 재방문 연결</a:t>
            </a:r>
          </a:p>
        </p:txBody>
      </p:sp>
      <p:sp>
        <p:nvSpPr>
          <p:cNvPr id="26" name="shape 26"/>
          <p:cNvSpPr txBox="1"/>
          <p:nvPr/>
        </p:nvSpPr>
        <p:spPr>
          <a:xfrm>
            <a:off x="594360" y="6035040"/>
            <a:ext cx="10972800" cy="411480"/>
          </a:xfrm>
          <a:prstGeom prst="rect">
            <a:avLst/>
          </a:prstGeom>
          <a:noFill/>
          <a:ln>
            <a:noFill/>
          </a:ln>
        </p:spPr>
        <p:txBody>
          <a:bodyPr wrap="square" lIns="91440" tIns="68580" rIns="91440" bIns="68580"/>
          <a:lstStyle/>
          <a:p>
            <a:pPr marL="0" indent="0"/>
            <a:r>
              <a:rPr lang="ko-KR" sz="1150">
                <a:solidFill>
                  <a:srgbClr val="657286"/>
                </a:solidFill>
                <a:latin typeface="맑은 고딕"/>
                <a:ea typeface="맑은 고딕"/>
              </a:rPr>
              <a:t>PawDex 병원 기능은 EMR 대체가 아니라 보호자와 병원 사이의 문서·예약·기록 공유 채널입니다.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awDex">
  <a:themeElements>
    <a:clrScheme name="PawDex">
      <a:dk1>
        <a:srgbClr val="172033"/>
      </a:dk1>
      <a:lt1>
        <a:srgbClr val="FFFFFF"/>
      </a:lt1>
      <a:dk2>
        <a:srgbClr val="39465E"/>
      </a:dk2>
      <a:lt2>
        <a:srgbClr val="F6F8FB"/>
      </a:lt2>
      <a:accent1>
        <a:srgbClr val="2368D9"/>
      </a:accent1>
      <a:accent2>
        <a:srgbClr val="177954"/>
      </a:accent2>
      <a:accent3>
        <a:srgbClr val="B85F12"/>
      </a:accent3>
      <a:accent4>
        <a:srgbClr val="08798D"/>
      </a:accent4>
      <a:accent5>
        <a:srgbClr val="6553C7"/>
      </a:accent5>
      <a:accent6>
        <a:srgbClr val="BD2F3A"/>
      </a:accent6>
      <a:hlink>
        <a:srgbClr val="2368D9"/>
      </a:hlink>
      <a:folHlink>
        <a:srgbClr val="6553C7"/>
      </a:folHlink>
    </a:clrScheme>
    <a:fontScheme name="PawDex">
      <a:majorFont>
        <a:latin typeface="맑은 고딕"/>
        <a:ea typeface="맑은 고딕"/>
      </a:majorFont>
      <a:minorFont>
        <a:latin typeface="맑은 고딕"/>
        <a:ea typeface="맑은 고딕"/>
      </a:minorFont>
    </a:fontScheme>
    <a:fmtScheme name="PawDex">
      <a:fillStyleLst>
        <a:solidFill>
          <a:schemeClr val="phClr"/>
        </a:solidFill>
      </a:fillStyleLst>
      <a:lnStyleLst>
        <a:ln w="9525">
          <a:solidFill>
            <a:schemeClr val="phClr"/>
          </a:solidFill>
        </a:ln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PawDex</Application>
  <PresentationFormat>16:9</PresentationFormat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PawDex Pitch Deck</dc:title>
  <dc:creator>PawDex</dc:creator>
  <cp:lastModifiedBy>PawDex</cp:lastModifiedBy>
  <dcterms:created xsi:type="dcterms:W3CDTF">2026-06-10T00:00:00Z</dcterms:created>
  <dcterms:modified xsi:type="dcterms:W3CDTF">2026-06-10T00:00:00Z</dcterms:modified>
</cp:coreProperties>
</file>