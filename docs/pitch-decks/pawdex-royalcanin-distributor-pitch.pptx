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<Relationships xmlns="http://schemas.openxmlformats.org/package/2006/relationships"/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80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77954"/>
          </a:solidFill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80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4" name="shape 4"/>
          <p:cNvSpPr txBox="1"/>
          <p:nvPr/>
        </p:nvSpPr>
        <p:spPr>
          <a:xfrm>
            <a:off x="685800" y="32004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250" b="1">
                <a:solidFill>
                  <a:srgbClr val="FFFFFF"/>
                </a:solidFill>
                <a:latin typeface="맑은 고딕"/>
                <a:ea typeface="맑은 고딕"/>
              </a:rPr>
              <a:t>PawDex × Royal Canin 총판 제안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685800" y="1508760"/>
            <a:ext cx="10058400" cy="1234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3600" b="1">
                <a:solidFill>
                  <a:srgbClr val="172033"/>
                </a:solidFill>
                <a:latin typeface="맑은 고딕"/>
                <a:ea typeface="맑은 고딕"/>
              </a:rPr>
              <a:t>기록 기반 맞춤 사료 커머스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713232" y="2971800"/>
            <a:ext cx="896112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750">
                <a:solidFill>
                  <a:srgbClr val="516078"/>
                </a:solidFill>
                <a:latin typeface="맑은 고딕"/>
                <a:ea typeface="맑은 고딕"/>
              </a:rPr>
              <a:t>보호자 건강기록과 AI 분석을 구매 전환으로 연결해 로얄캐닌 판매와 정기배송을 키우는 구조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713232" y="4892040"/>
            <a:ext cx="2743200" cy="566928"/>
          </a:xfrm>
          <a:prstGeom prst="roundRect">
            <a:avLst/>
          </a:prstGeom>
          <a:solidFill>
            <a:srgbClr val="177954"/>
          </a:solidFill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450" b="1">
                <a:solidFill>
                  <a:srgbClr val="FFFFFF"/>
                </a:solidFill>
                <a:latin typeface="맑은 고딕"/>
                <a:ea typeface="맑은 고딕"/>
              </a:rPr>
              <a:t>총판 미팅용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9692640" y="4709160"/>
            <a:ext cx="164592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700" b="1">
                <a:solidFill>
                  <a:srgbClr val="177954"/>
                </a:solidFill>
                <a:latin typeface="맑은 고딕"/>
                <a:ea typeface="맑은 고딕"/>
              </a:rPr>
              <a:t>PawDex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80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502920" y="347472"/>
            <a:ext cx="67665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200" b="1">
                <a:solidFill>
                  <a:srgbClr val="2368D9"/>
                </a:solidFill>
                <a:latin typeface="맑은 고딕"/>
                <a:ea typeface="맑은 고딕"/>
              </a:rPr>
              <a:t>시장 기회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804672"/>
            <a:ext cx="99669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2500" b="1">
                <a:solidFill>
                  <a:srgbClr val="172033"/>
                </a:solidFill>
                <a:latin typeface="맑은 고딕"/>
                <a:ea typeface="맑은 고딕"/>
              </a:rPr>
              <a:t>보호자는 “어떤 사료가 맞는지”를 계속 고민합니다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502920" y="169164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350">
                <a:solidFill>
                  <a:srgbClr val="657286"/>
                </a:solidFill>
                <a:latin typeface="맑은 고딕"/>
                <a:ea typeface="맑은 고딕"/>
              </a:rPr>
              <a:t>가격 경쟁력만으로는 반복 구매를 만들기 어렵고, 추천 근거가 있어야 정기배송으로 이어집니다.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502920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선택 피로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548640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라인업과 용량이 다양함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나이·체중·증상별 판단이 어려움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처방식/일반식 구분이 헷갈림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4315968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가격 민감도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4361688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사료는 반복 구매 품목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최저가 체감이 크면 전환이 빠름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정기배송 전환 여지가 큼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8129016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신뢰 부족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8174736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광고성 추천에 피로감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우리 아이 기록과 연결된 근거 필요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수의사 상담 권장 장치 필요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80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502920" y="347472"/>
            <a:ext cx="67665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200" b="1">
                <a:solidFill>
                  <a:srgbClr val="177954"/>
                </a:solidFill>
                <a:latin typeface="맑은 고딕"/>
                <a:ea typeface="맑은 고딕"/>
              </a:rPr>
              <a:t>구매 전환 구조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804672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2500" b="1">
                <a:solidFill>
                  <a:srgbClr val="172033"/>
                </a:solidFill>
                <a:latin typeface="맑은 고딕"/>
                <a:ea typeface="맑은 고딕"/>
              </a:rPr>
              <a:t>PawDex의 추천은 쇼핑몰이 아니라 기록에서 출발합니다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502920" y="1664208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350">
                <a:solidFill>
                  <a:srgbClr val="657286"/>
                </a:solidFill>
                <a:latin typeface="맑은 고딕"/>
                <a:ea typeface="맑은 고딕"/>
              </a:rPr>
              <a:t>기존 건강기록 데이터를 상품 카탈로그와 연결해 구매 이유를 만듭니다.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02920" y="2487168"/>
            <a:ext cx="1755648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350" b="1">
                <a:solidFill>
                  <a:srgbClr val="172033"/>
                </a:solidFill>
                <a:latin typeface="맑은 고딕"/>
                <a:ea typeface="맑은 고딕"/>
              </a:rPr>
              <a:t>1. 프로필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530352" y="3154680"/>
            <a:ext cx="1700784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120">
                <a:solidFill>
                  <a:srgbClr val="39465E"/>
                </a:solidFill>
                <a:latin typeface="맑은 고딕"/>
                <a:ea typeface="맑은 고딕"/>
              </a:rPr>
              <a:t>종, 나이, 체중, 중성화, 품종, 생활단계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2240280" y="3182112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8A95A8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2459736" y="2487168"/>
            <a:ext cx="1755648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350" b="1">
                <a:solidFill>
                  <a:srgbClr val="172033"/>
                </a:solidFill>
                <a:latin typeface="맑은 고딕"/>
                <a:ea typeface="맑은 고딕"/>
              </a:rPr>
              <a:t>2. 기록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2487168" y="3154680"/>
            <a:ext cx="1700784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120">
                <a:solidFill>
                  <a:srgbClr val="39465E"/>
                </a:solidFill>
                <a:latin typeface="맑은 고딕"/>
                <a:ea typeface="맑은 고딕"/>
              </a:rPr>
              <a:t>증상, 진료, 복약, 검사결과, 체중 변화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4197096" y="3182112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8A95A8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4416552" y="2487168"/>
            <a:ext cx="1755648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350" b="1">
                <a:solidFill>
                  <a:srgbClr val="172033"/>
                </a:solidFill>
                <a:latin typeface="맑은 고딕"/>
                <a:ea typeface="맑은 고딕"/>
              </a:rPr>
              <a:t>3. AI 요약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4443984" y="3154680"/>
            <a:ext cx="1700784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120">
                <a:solidFill>
                  <a:srgbClr val="39465E"/>
                </a:solidFill>
                <a:latin typeface="맑은 고딕"/>
                <a:ea typeface="맑은 고딕"/>
              </a:rPr>
              <a:t>현재 상태와 영양 고려사항 정리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6153912" y="3182112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8A95A8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6373368" y="2487168"/>
            <a:ext cx="1755648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350" b="1">
                <a:solidFill>
                  <a:srgbClr val="172033"/>
                </a:solidFill>
                <a:latin typeface="맑은 고딕"/>
                <a:ea typeface="맑은 고딕"/>
              </a:rPr>
              <a:t>4. 상품 매칭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6400800" y="3154680"/>
            <a:ext cx="1700784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120">
                <a:solidFill>
                  <a:srgbClr val="39465E"/>
                </a:solidFill>
                <a:latin typeface="맑은 고딕"/>
                <a:ea typeface="맑은 고딕"/>
              </a:rPr>
              <a:t>로얄캐닌 카탈로그 태그 안에서 후보 추출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8110728" y="3182112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8A95A8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8330184" y="2487168"/>
            <a:ext cx="1755648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350" b="1">
                <a:solidFill>
                  <a:srgbClr val="172033"/>
                </a:solidFill>
                <a:latin typeface="맑은 고딕"/>
                <a:ea typeface="맑은 고딕"/>
              </a:rPr>
              <a:t>5. 구매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8357616" y="3154680"/>
            <a:ext cx="1700784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120">
                <a:solidFill>
                  <a:srgbClr val="39465E"/>
                </a:solidFill>
                <a:latin typeface="맑은 고딕"/>
                <a:ea typeface="맑은 고딕"/>
              </a:rPr>
              <a:t>최저가 구매 또는 정기배송 연결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10067544" y="3182112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8A95A8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10287000" y="2487168"/>
            <a:ext cx="1755648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350" b="1">
                <a:solidFill>
                  <a:srgbClr val="172033"/>
                </a:solidFill>
                <a:latin typeface="맑은 고딕"/>
                <a:ea typeface="맑은 고딕"/>
              </a:rPr>
              <a:t>6. 피드백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10314432" y="3154680"/>
            <a:ext cx="1700784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120">
                <a:solidFill>
                  <a:srgbClr val="39465E"/>
                </a:solidFill>
                <a:latin typeface="맑은 고딕"/>
                <a:ea typeface="맑은 고딕"/>
              </a:rPr>
              <a:t>기호성, 변 상태, 체중 변화를 다음 추천에 반영</a:t>
            </a:r>
          </a:p>
        </p:txBody>
      </p:sp>
      <p:sp>
        <p:nvSpPr>
          <p:cNvPr id="43" name="shape 43"/>
          <p:cNvSpPr txBox="1"/>
          <p:nvPr/>
        </p:nvSpPr>
        <p:spPr>
          <a:xfrm>
            <a:off x="594360" y="5669280"/>
            <a:ext cx="10972800" cy="640080"/>
          </a:xfrm>
          <a:prstGeom prst="roundRect">
            <a:avLst/>
          </a:prstGeom>
          <a:solidFill>
            <a:srgbClr val="EFFAF4"/>
          </a:solidFill>
          <a:ln w="9525">
            <a:solidFill>
              <a:srgbClr val="BFE5D4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250" b="1">
                <a:solidFill>
                  <a:srgbClr val="177954"/>
                </a:solidFill>
                <a:latin typeface="맑은 고딕"/>
                <a:ea typeface="맑은 고딕"/>
              </a:rPr>
              <a:t>핵심은 AI가 임의 상품을 만들지 않고, 등록된 로얄캐닌 상품 안에서만 추천하는 것입니다.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80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502920" y="347472"/>
            <a:ext cx="67665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200" b="1">
                <a:solidFill>
                  <a:srgbClr val="2368D9"/>
                </a:solidFill>
                <a:latin typeface="맑은 고딕"/>
                <a:ea typeface="맑은 고딕"/>
              </a:rPr>
              <a:t>총판이 얻는 가치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804672"/>
            <a:ext cx="99669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2500" b="1">
                <a:solidFill>
                  <a:srgbClr val="172033"/>
                </a:solidFill>
                <a:latin typeface="맑은 고딕"/>
                <a:ea typeface="맑은 고딕"/>
              </a:rPr>
              <a:t>단순 노출이 아니라 구매 이유와 반복 구매를 만듭니다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502920" y="169164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350">
                <a:solidFill>
                  <a:srgbClr val="657286"/>
                </a:solidFill>
                <a:latin typeface="맑은 고딕"/>
                <a:ea typeface="맑은 고딕"/>
              </a:rPr>
              <a:t>PawDex는 사료 가격 경쟁력을 “맞춤 추천 + 정기배송”으로 전환하는 역할을 합니다.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502920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전환율 상승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548640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우리 아이 기준 추천 이유 제공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추천 사료에서 바로 구매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급여량/소진일 계산으로 구매 결정을 단축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4315968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반복 매출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4361688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사료는 정기배송과 궁합이 좋음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소진 예상일 기반 알림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배송 주기 변경/일시중지로 이탈 방지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8129016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데이터 기반 운영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8174736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추천 클릭률·구매율 확인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품종/연령/상태별 수요 파악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재고·프로모션 전략에 활용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80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502920" y="347472"/>
            <a:ext cx="67665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200" b="1">
                <a:solidFill>
                  <a:srgbClr val="2368D9"/>
                </a:solidFill>
                <a:latin typeface="맑은 고딕"/>
                <a:ea typeface="맑은 고딕"/>
              </a:rPr>
              <a:t>쇼핑 UX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804672"/>
            <a:ext cx="99669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2500" b="1">
                <a:solidFill>
                  <a:srgbClr val="172033"/>
                </a:solidFill>
                <a:latin typeface="맑은 고딕"/>
                <a:ea typeface="맑은 고딕"/>
              </a:rPr>
              <a:t>구매 화면은 “맞춤 추천 → 비교 → 정기배송”으로 설계합니다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502920" y="169164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350">
                <a:solidFill>
                  <a:srgbClr val="657286"/>
                </a:solidFill>
                <a:latin typeface="맑은 고딕"/>
                <a:ea typeface="맑은 고딕"/>
              </a:rPr>
              <a:t>가격만 보여주는 쇼핑몰보다, 보호자가 왜 이 상품을 골라야 하는지 이해하게 합니다.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502920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맞춤 추천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548640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1순위 추천 사료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추천 근거 3가지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주의/상담 필요 표시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4315968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상품 상세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4361688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용량/가격/단가 비교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급여량 계산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한 포대 예상 사용일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8129016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정기배송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8174736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2주/4주/6주 주기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다음 결제일 확인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일시중지/배송지 변경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80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502920" y="347472"/>
            <a:ext cx="67665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200" b="1">
                <a:solidFill>
                  <a:srgbClr val="2368D9"/>
                </a:solidFill>
                <a:latin typeface="맑은 고딕"/>
                <a:ea typeface="맑은 고딕"/>
              </a:rPr>
              <a:t>판매자 센터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804672"/>
            <a:ext cx="99669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2500" b="1">
                <a:solidFill>
                  <a:srgbClr val="172033"/>
                </a:solidFill>
                <a:latin typeface="맑은 고딕"/>
                <a:ea typeface="맑은 고딕"/>
              </a:rPr>
              <a:t>처음은 총판 1곳 전용 운영툴로 작게 시작합니다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502920" y="169164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350">
                <a:solidFill>
                  <a:srgbClr val="657286"/>
                </a:solidFill>
                <a:latin typeface="맑은 고딕"/>
                <a:ea typeface="맑은 고딕"/>
              </a:rPr>
              <a:t>오픈마켓 전체를 만들기보다 로얄캐닌 총판 운영에 필요한 기능부터 검증합니다.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502920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상품 관리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548640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상품/옵션/용량/가격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재고/품절 상태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추천 태그 관리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4315968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주문 처리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4361688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주문 목록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배송 송장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취소/환불 상태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8129016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정산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8174736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월별 매출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할인/배송비/환불 반영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정산 예정금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80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502920" y="347472"/>
            <a:ext cx="67665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200" b="1">
                <a:solidFill>
                  <a:srgbClr val="2368D9"/>
                </a:solidFill>
                <a:latin typeface="맑은 고딕"/>
                <a:ea typeface="맑은 고딕"/>
              </a:rPr>
              <a:t>법적 리스크 관리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804672"/>
            <a:ext cx="99669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2500" b="1">
                <a:solidFill>
                  <a:srgbClr val="172033"/>
                </a:solidFill>
                <a:latin typeface="맑은 고딕"/>
                <a:ea typeface="맑은 고딕"/>
              </a:rPr>
              <a:t>AI 추천은 “진단/치료/처방”이 아니라 “영양 후보 추천”으로 제한합니다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502920" y="169164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350">
                <a:solidFill>
                  <a:srgbClr val="657286"/>
                </a:solidFill>
                <a:latin typeface="맑은 고딕"/>
                <a:ea typeface="맑은 고딕"/>
              </a:rPr>
              <a:t>신뢰를 만들되 과장 광고와 의료 행위처럼 보이는 표현은 피합니다.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502920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금지 표현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548640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AI가 진단했습니다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이 사료로 치료됩니다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수의사 처방 없이 먹이면 됩니다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4315968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권장 표현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4361688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기록 기반 사료 후보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영양 관리에 참고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질환/처방식은 수의사 상담 권장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8129016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운영 장치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8174736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일반식/기능성/상담권장 분리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카탈로그 안에서만 추천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추천 근거와 주의 문구 표시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80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502920" y="347472"/>
            <a:ext cx="67665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200" b="1">
                <a:solidFill>
                  <a:srgbClr val="2368D9"/>
                </a:solidFill>
                <a:latin typeface="맑은 고딕"/>
                <a:ea typeface="맑은 고딕"/>
              </a:rPr>
              <a:t>단계별 실행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804672"/>
            <a:ext cx="99669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2500" b="1">
                <a:solidFill>
                  <a:srgbClr val="172033"/>
                </a:solidFill>
                <a:latin typeface="맑은 고딕"/>
                <a:ea typeface="맑은 고딕"/>
              </a:rPr>
              <a:t>초기 목표는 “추천 판매”와 “정기배송” 검증입니다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502920" y="169164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350">
                <a:solidFill>
                  <a:srgbClr val="657286"/>
                </a:solidFill>
                <a:latin typeface="맑은 고딕"/>
                <a:ea typeface="맑은 고딕"/>
              </a:rPr>
              <a:t>병원 연계는 신뢰 보조 기능으로 붙이고, 커머스 매출 검증을 먼저 합니다.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502920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1단계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548640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로얄캐닌 카탈로그 구축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구매자 쇼핑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총판 전용 상품/주문 관리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4315968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2단계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4361688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AI 추천 엔진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급여량/소진일 계산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추천 로그 분석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8129016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3단계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8174736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정기배송 빌링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정산 자동화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병원 문서/추천 신뢰 보조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80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502920" y="347472"/>
            <a:ext cx="67665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200" b="1">
                <a:solidFill>
                  <a:srgbClr val="2368D9"/>
                </a:solidFill>
                <a:latin typeface="맑은 고딕"/>
                <a:ea typeface="맑은 고딕"/>
              </a:rPr>
              <a:t>제안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804672"/>
            <a:ext cx="99669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2500" b="1">
                <a:solidFill>
                  <a:srgbClr val="172033"/>
                </a:solidFill>
                <a:latin typeface="맑은 고딕"/>
                <a:ea typeface="맑은 고딕"/>
              </a:rPr>
              <a:t>총판과 PawDex가 같이 검증할 첫 KPI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502920" y="169164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350">
                <a:solidFill>
                  <a:srgbClr val="657286"/>
                </a:solidFill>
                <a:latin typeface="맑은 고딕"/>
                <a:ea typeface="맑은 고딕"/>
              </a:rPr>
              <a:t>처음부터 큰 범위를 잡기보다 4~6주 안에 구매 전환 지표를 확인합니다.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502920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상품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548640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대표 라인업 20~40개부터 시작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용량/가격/재고 정확도 확보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추천 태그 정리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4315968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전환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4361688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추천 클릭률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상품 상세 전환율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첫 구매율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8129016" y="2423160"/>
            <a:ext cx="3520440" cy="21488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E4EE"/>
            </a:solidFill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550" b="1">
                <a:solidFill>
                  <a:srgbClr val="172033"/>
                </a:solidFill>
                <a:latin typeface="맑은 고딕"/>
                <a:ea typeface="맑은 고딕"/>
              </a:rPr>
              <a:t>반복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8174736" y="2926080"/>
            <a:ext cx="3429000" cy="1581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정기배송 신청률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재구매 주기</a:t>
            </a:r>
          </a:p>
          <a:p>
            <a:pPr marL="285750" indent="-171450">
              <a:buChar char="•"/>
            </a:pPr>
            <a:r>
              <a:rPr lang="ko-KR" sz="1200">
                <a:solidFill>
                  <a:srgbClr val="39465E"/>
                </a:solidFill>
                <a:latin typeface="맑은 고딕"/>
                <a:ea typeface="맑은 고딕"/>
              </a:rPr>
              <a:t>품절/배송 CS 비율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594360" y="603504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marL="0" indent="0"/>
            <a:r>
              <a:rPr lang="ko-KR" sz="1150">
                <a:solidFill>
                  <a:srgbClr val="657286"/>
                </a:solidFill>
                <a:latin typeface="맑은 고딕"/>
                <a:ea typeface="맑은 고딕"/>
              </a:rPr>
              <a:t>총판의 가격 경쟁력과 PawDex의 기록 기반 추천이 만나야 단순 쇼핑몰과 다른 이유가 생깁니다.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wDex">
  <a:themeElements>
    <a:clrScheme name="PawDex">
      <a:dk1>
        <a:srgbClr val="172033"/>
      </a:dk1>
      <a:lt1>
        <a:srgbClr val="FFFFFF"/>
      </a:lt1>
      <a:dk2>
        <a:srgbClr val="39465E"/>
      </a:dk2>
      <a:lt2>
        <a:srgbClr val="F6F8FB"/>
      </a:lt2>
      <a:accent1>
        <a:srgbClr val="2368D9"/>
      </a:accent1>
      <a:accent2>
        <a:srgbClr val="177954"/>
      </a:accent2>
      <a:accent3>
        <a:srgbClr val="B85F12"/>
      </a:accent3>
      <a:accent4>
        <a:srgbClr val="08798D"/>
      </a:accent4>
      <a:accent5>
        <a:srgbClr val="6553C7"/>
      </a:accent5>
      <a:accent6>
        <a:srgbClr val="BD2F3A"/>
      </a:accent6>
      <a:hlink>
        <a:srgbClr val="2368D9"/>
      </a:hlink>
      <a:folHlink>
        <a:srgbClr val="6553C7"/>
      </a:folHlink>
    </a:clrScheme>
    <a:fontScheme name="PawDex">
      <a:majorFont>
        <a:latin typeface="맑은 고딕"/>
        <a:ea typeface="맑은 고딕"/>
      </a:majorFont>
      <a:minorFont>
        <a:latin typeface="맑은 고딕"/>
        <a:ea typeface="맑은 고딕"/>
      </a:minorFont>
    </a:fontScheme>
    <a:fmtScheme name="PawDex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PawDex</Application>
  <PresentationFormat>16:9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PawDex Pitch Deck</dc:title>
  <dc:creator>PawDex</dc:creator>
  <cp:lastModifiedBy>PawDex</cp:lastModifiedBy>
  <dcterms:created xsi:type="dcterms:W3CDTF">2026-06-10T00:00:00Z</dcterms:created>
  <dcterms:modified xsi:type="dcterms:W3CDTF">2026-06-10T00:00:00Z</dcterms:modified>
</cp:coreProperties>
</file>